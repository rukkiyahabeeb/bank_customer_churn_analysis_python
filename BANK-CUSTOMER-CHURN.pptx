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60449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0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541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80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50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05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07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6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15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57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97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65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739B-7223-4DE7-A43C-BD9B2F555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4375" y="758952"/>
            <a:ext cx="10856259" cy="3248272"/>
          </a:xfrm>
        </p:spPr>
        <p:txBody>
          <a:bodyPr>
            <a:normAutofit/>
          </a:bodyPr>
          <a:lstStyle/>
          <a:p>
            <a:r>
              <a:rPr lang="en-US" sz="6000" dirty="0"/>
              <a:t>BANK-CUSTOMER-CHURN</a:t>
            </a:r>
            <a:endParaRPr lang="en-AE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089B5-5A3B-4B7D-A053-13F44A9DB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943" y="4007224"/>
            <a:ext cx="9418320" cy="1691640"/>
          </a:xfrm>
        </p:spPr>
        <p:txBody>
          <a:bodyPr>
            <a:normAutofit/>
          </a:bodyPr>
          <a:lstStyle/>
          <a:p>
            <a:r>
              <a:rPr lang="en-US" sz="2800" dirty="0"/>
              <a:t>PYTHON FOR BANKING</a:t>
            </a:r>
            <a:endParaRPr lang="en-AE" sz="2800" dirty="0"/>
          </a:p>
        </p:txBody>
      </p:sp>
    </p:spTree>
    <p:extLst>
      <p:ext uri="{BB962C8B-B14F-4D97-AF65-F5344CB8AC3E}">
        <p14:creationId xmlns:p14="http://schemas.microsoft.com/office/powerpoint/2010/main" val="32590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4D6E6-E9D2-40E2-ABBF-C0CC817C7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154" y="582707"/>
            <a:ext cx="8595360" cy="52029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Dataset</a:t>
            </a:r>
            <a:r>
              <a:rPr lang="en-US" sz="2800" dirty="0"/>
              <a:t>:</a:t>
            </a:r>
          </a:p>
          <a:p>
            <a:r>
              <a:rPr lang="en-US" dirty="0"/>
              <a:t> </a:t>
            </a:r>
            <a:r>
              <a:rPr lang="en-US" sz="2000" dirty="0"/>
              <a:t>From </a:t>
            </a:r>
            <a:r>
              <a:rPr lang="en-US" sz="2000" u="sng" dirty="0">
                <a:solidFill>
                  <a:srgbClr val="0070C0"/>
                </a:solidFill>
              </a:rPr>
              <a:t>mavenanalytics.io</a:t>
            </a:r>
          </a:p>
          <a:p>
            <a:r>
              <a:rPr lang="en-US" sz="2000" dirty="0"/>
              <a:t>10,000 customers across France, Germany, and Spain.</a:t>
            </a:r>
            <a:endParaRPr lang="en-AE" sz="2000" dirty="0"/>
          </a:p>
          <a:p>
            <a:r>
              <a:rPr lang="en-US" sz="2000" dirty="0"/>
              <a:t>Credit Score, Geography, Age, Tenure, Balance, and Product Count.</a:t>
            </a:r>
          </a:p>
          <a:p>
            <a:r>
              <a:rPr lang="en-US" sz="2000" dirty="0"/>
              <a:t>Language: Python 3.x</a:t>
            </a:r>
          </a:p>
          <a:p>
            <a:r>
              <a:rPr lang="en-US" sz="2000" dirty="0"/>
              <a:t>Data Manipulation: Pandas, NumPy</a:t>
            </a:r>
          </a:p>
          <a:p>
            <a:r>
              <a:rPr lang="en-US" sz="2000" dirty="0"/>
              <a:t>Visualization: Matplotlib, Seaborn, Plotly (Interactive).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800" b="1" dirty="0"/>
              <a:t>The Objective</a:t>
            </a:r>
            <a:r>
              <a:rPr lang="en-US" sz="2800" dirty="0"/>
              <a:t>:</a:t>
            </a:r>
          </a:p>
          <a:p>
            <a:r>
              <a:rPr lang="en-US" sz="2000" dirty="0"/>
              <a:t> Identify high-risk segments and provide mitigation strategies.</a:t>
            </a:r>
          </a:p>
          <a:p>
            <a:r>
              <a:rPr lang="en-US" sz="2000" dirty="0"/>
              <a:t> Data-driven insights to reduce attrition. 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4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BEFE-41EF-4A72-9D65-1470F364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60259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sz="3600" dirty="0"/>
              <a:t>DATA LOADING</a:t>
            </a:r>
            <a:endParaRPr lang="en-A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A42983-8FFF-4DAD-AA3A-9D0D4C5D9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3312" y="869577"/>
            <a:ext cx="6193959" cy="217868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2FD10-8775-45B9-97BC-3080B7F68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7"/>
            <a:ext cx="4760259" cy="480060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sz="2400" dirty="0"/>
              <a:t>Initial Overview of Data set: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Head()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Tail()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Shape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Describe()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Dtypes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BB10FB-CA22-4B30-A526-7FA985FC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312" y="3048260"/>
            <a:ext cx="6193959" cy="324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4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D2F0-AB35-4272-8698-48E40903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041648" cy="2012574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DATA PREPROCESSING</a:t>
            </a:r>
            <a:endParaRPr lang="en-AE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23206EF-5EAF-47A2-AFE3-DAB27C22E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3737" y="1541930"/>
            <a:ext cx="6433204" cy="161884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4519C-8197-495C-AF41-D931A7F01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12575"/>
            <a:ext cx="4041648" cy="4845425"/>
          </a:xfr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NULL data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Duplicate data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Column Renaming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Derived columns</a:t>
            </a:r>
            <a:endParaRPr lang="en-AE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FD9730-14F8-460B-A8BF-3510C2203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737" y="3429000"/>
            <a:ext cx="643320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5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E069-8587-4233-A6DC-E5BF40AE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EXPLORATORY  ANALYSIS</a:t>
            </a:r>
            <a:endParaRPr lang="en-A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E152E3-C5C9-47C0-8ABF-4D984D748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2377" y="355417"/>
            <a:ext cx="6634069" cy="9536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ACF2D-3B06-466C-AE95-EFC082312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7"/>
            <a:ext cx="4041648" cy="4800603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2400" dirty="0"/>
              <a:t>Group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2400" dirty="0"/>
              <a:t>Pivot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05D3C1-CC8A-48F4-A843-CA3E9DF3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854" y="1337416"/>
            <a:ext cx="3804805" cy="1513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217758-7E01-4578-B6B9-951A04209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377" y="3459512"/>
            <a:ext cx="6634069" cy="14343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BA45D2-2813-495F-B00E-3C0538042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853" y="4893865"/>
            <a:ext cx="4041649" cy="184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1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8E86-F6F0-485A-919F-7522E8A7C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1295529" cy="1592711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STATISTICAL ANALYSIS</a:t>
            </a:r>
            <a:endParaRPr lang="en-A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AC61E-5BB2-440A-BBED-6883F139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10640"/>
            <a:ext cx="11295529" cy="4405127"/>
          </a:xfrm>
          <a:noFill/>
        </p:spPr>
        <p:txBody>
          <a:bodyPr/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Numerical Column Summary:</a:t>
            </a:r>
          </a:p>
          <a:p>
            <a:r>
              <a:rPr lang="en-US" sz="2400" b="1" dirty="0"/>
              <a:t>Average Age: </a:t>
            </a:r>
            <a:r>
              <a:rPr lang="en-US" sz="2400" dirty="0"/>
              <a:t>Typically 38–40 years.</a:t>
            </a:r>
          </a:p>
          <a:p>
            <a:r>
              <a:rPr lang="en-US" sz="2400" b="1" dirty="0"/>
              <a:t>Churn Rate: </a:t>
            </a:r>
            <a:r>
              <a:rPr lang="en-US" sz="2400" dirty="0"/>
              <a:t>Approximately 20% of customers have left.</a:t>
            </a:r>
          </a:p>
          <a:p>
            <a:r>
              <a:rPr lang="en-US" sz="2400" b="1" dirty="0"/>
              <a:t>Account Balance: </a:t>
            </a:r>
            <a:r>
              <a:rPr lang="en-US" sz="2400" dirty="0"/>
              <a:t>High frequency of 0, suggesting inactive or secondary accounts. 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871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13CF-7184-44FE-9117-0E3055BD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49318" cy="1595718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STATISTICAL ANALYSIS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4204-0AFA-4A66-8189-5CAA04C36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0644"/>
            <a:ext cx="11286564" cy="4839493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AE" sz="3200" b="1" dirty="0"/>
          </a:p>
          <a:p>
            <a:pPr marL="0" indent="0">
              <a:buNone/>
            </a:pPr>
            <a:r>
              <a:rPr lang="en-AE" sz="3200" b="1" dirty="0"/>
              <a:t>Categorical Column Summary:</a:t>
            </a:r>
          </a:p>
          <a:p>
            <a:r>
              <a:rPr lang="en-US" sz="2400" b="1" dirty="0"/>
              <a:t>Geography:</a:t>
            </a:r>
            <a:r>
              <a:rPr lang="en-US" sz="2400" dirty="0"/>
              <a:t> Data dominated by France.</a:t>
            </a:r>
          </a:p>
          <a:p>
            <a:r>
              <a:rPr lang="en-US" sz="2400" b="1" dirty="0"/>
              <a:t>Gender:</a:t>
            </a:r>
            <a:r>
              <a:rPr lang="en-US" sz="2400" dirty="0"/>
              <a:t> Mostly balanced, with higher female churn in specific clusters.</a:t>
            </a:r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335984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9935-B8D5-44E0-BFB8-07A15504E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1313459" cy="169132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STATISTICAL ANALYSIS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4AA7-8A6C-42D5-A00E-826EE24EA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1322"/>
            <a:ext cx="11313459" cy="4488815"/>
          </a:xfrm>
        </p:spPr>
        <p:txBody>
          <a:bodyPr/>
          <a:lstStyle/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sz="3200" b="1" dirty="0"/>
          </a:p>
          <a:p>
            <a:pPr marL="0" indent="0">
              <a:buNone/>
            </a:pPr>
            <a:r>
              <a:rPr lang="en-AU" sz="3200" b="1" dirty="0"/>
              <a:t>Grouped Statistics by Churn:</a:t>
            </a:r>
          </a:p>
          <a:p>
            <a:r>
              <a:rPr lang="en-US" sz="2400" b="1" dirty="0"/>
              <a:t>High-Value Loss:</a:t>
            </a:r>
            <a:r>
              <a:rPr lang="en-US" sz="2400" dirty="0"/>
              <a:t> Churned customers hold higher average balances,      indicating a loss of premium clients.</a:t>
            </a:r>
          </a:p>
          <a:p>
            <a:r>
              <a:rPr lang="en-US" sz="2400" b="1" dirty="0"/>
              <a:t>Age Factor:</a:t>
            </a:r>
            <a:r>
              <a:rPr lang="en-US" sz="2400" dirty="0"/>
              <a:t> Customers 40+ are more likely to leave. </a:t>
            </a:r>
          </a:p>
          <a:p>
            <a:endParaRPr lang="en-AU" b="1" dirty="0"/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8205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0CD7-786E-471F-9D8A-3747954D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C2F3D-90F2-4994-823A-20B263211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44917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endParaRPr lang="en-AU" dirty="0"/>
          </a:p>
          <a:p>
            <a:endParaRPr lang="en-AU" b="1" dirty="0"/>
          </a:p>
          <a:p>
            <a:r>
              <a:rPr lang="en-AU" b="1" dirty="0"/>
              <a:t>Clear class imbalance.</a:t>
            </a:r>
          </a:p>
          <a:p>
            <a:r>
              <a:rPr lang="en-US" b="1" dirty="0"/>
              <a:t>20% of customers exited (1 in 5).</a:t>
            </a:r>
            <a:endParaRPr lang="en-AE" b="1" dirty="0"/>
          </a:p>
          <a:p>
            <a:pPr marL="0" indent="0">
              <a:buNone/>
            </a:pPr>
            <a:endParaRPr lang="en-AE" sz="1800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F9722-F26C-4F61-A07E-7C01C1DB9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7"/>
            <a:ext cx="4041648" cy="4800603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2000" b="1" dirty="0"/>
              <a:t>1</a:t>
            </a:r>
            <a:r>
              <a:rPr lang="en-US" sz="2000" dirty="0"/>
              <a:t>.</a:t>
            </a:r>
            <a:r>
              <a:rPr lang="en-US" sz="2000" b="1" dirty="0"/>
              <a:t> Overall Churn Proportion      (Pie Chart)</a:t>
            </a:r>
          </a:p>
          <a:p>
            <a:endParaRPr lang="en-A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D6945-C4A6-4555-A7DF-F92EA1054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033" y="189175"/>
            <a:ext cx="4286920" cy="347738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503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A214-C7C7-4F02-AD01-050358079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1E00E-BD1D-403A-82C7-C07033150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53881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r>
              <a:rPr lang="en-US" b="1" dirty="0"/>
              <a:t>France has the most customers.</a:t>
            </a:r>
          </a:p>
          <a:p>
            <a:r>
              <a:rPr lang="en-US" b="1" dirty="0"/>
              <a:t>Germany has the highest churn proportion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D5ED0-E73C-40B8-A98B-2412414F5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7"/>
            <a:ext cx="4041648" cy="4800603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AE" sz="2000" b="1" dirty="0"/>
              <a:t>2.</a:t>
            </a:r>
            <a:r>
              <a:rPr lang="en-US" sz="2000" b="1" dirty="0"/>
              <a:t> Churn Frequency by         Country</a:t>
            </a:r>
          </a:p>
          <a:p>
            <a:r>
              <a:rPr lang="en-US" sz="2000" b="1" dirty="0"/>
              <a:t>                 (Count Plot)</a:t>
            </a:r>
          </a:p>
          <a:p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E5EE4-3BC9-4A06-9248-20F3166C9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0" y="318050"/>
            <a:ext cx="5573104" cy="37698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2083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A56D-6D03-41EE-8D08-4869A392F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9CDCE-7CBA-453F-93D3-4B5D68AD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53881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r>
              <a:rPr lang="en-US" b="1" dirty="0"/>
              <a:t>Churned customers are older (Mid-40s vs. Mid-30s).</a:t>
            </a:r>
          </a:p>
          <a:p>
            <a:r>
              <a:rPr lang="en-US" b="1" dirty="0"/>
              <a:t>Higher age = Higher risk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E7FCE-D93E-48A0-9094-8A90592F4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7"/>
            <a:ext cx="4041648" cy="4827497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3.Age Distribution by Churn (Box Plot)</a:t>
            </a:r>
          </a:p>
          <a:p>
            <a:pPr algn="ctr"/>
            <a:endParaRPr lang="en-A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480C0B-95E1-4F27-B91A-331D52DBF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59" y="307988"/>
            <a:ext cx="5369828" cy="38831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3053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42E2-2A30-4277-B4BF-800F9051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08E14-70E5-4B6B-88C0-54F6A25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35952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r>
              <a:rPr lang="en-US" b="1" dirty="0"/>
              <a:t>Age is the top driver of churn (positive).</a:t>
            </a:r>
          </a:p>
          <a:p>
            <a:r>
              <a:rPr lang="en-US" b="1" dirty="0"/>
              <a:t>Active members are least likely to churn (negative).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ABB92-5776-4595-AD7D-38D2F9200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AU" sz="2000" b="1" dirty="0"/>
              <a:t>4.Feature Correlation Matrix</a:t>
            </a:r>
          </a:p>
          <a:p>
            <a:pPr algn="ctr"/>
            <a:r>
              <a:rPr lang="en-AU" sz="2000" b="1" dirty="0"/>
              <a:t> (Heatmap)</a:t>
            </a:r>
          </a:p>
          <a:p>
            <a:pPr algn="ctr"/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543C35-3DB0-47F7-8F21-5BDB9D7F3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447" y="398313"/>
            <a:ext cx="5154705" cy="380613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224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0062-0B3E-4786-96EB-4AA2728A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BD1A-1CB4-4168-B298-06377D621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44917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r>
              <a:rPr lang="en-US" b="1" dirty="0"/>
              <a:t>Most customers fall in the 600–700 range.</a:t>
            </a:r>
          </a:p>
          <a:p>
            <a:r>
              <a:rPr lang="en-US" b="1" dirty="0"/>
              <a:t>Small spike of churned customers with low credit scores (below 400).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F0090-D563-4AAE-A33E-8512ABC80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5. Credit Score Density (Histogram)</a:t>
            </a:r>
          </a:p>
          <a:p>
            <a:pPr algn="ctr"/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3699D-A222-4C89-B4A4-92E09709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413" y="394961"/>
            <a:ext cx="5825940" cy="378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66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D9A6-C244-4BB8-936A-8D84E49F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E0E4A-928C-4891-92E7-40C7EFAE4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53881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r>
              <a:rPr lang="en-US" b="1" dirty="0"/>
              <a:t>A large group of retained customers has a zero balance.</a:t>
            </a:r>
          </a:p>
          <a:p>
            <a:r>
              <a:rPr lang="en-US" b="1" dirty="0"/>
              <a:t>100k–150k balance = Risk of churn.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5DB29-9139-4384-945A-FA25C75E5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6. Balance Distribution by Churn </a:t>
            </a:r>
          </a:p>
          <a:p>
            <a:pPr algn="ctr"/>
            <a:r>
              <a:rPr lang="en-US" sz="2000" b="1" dirty="0"/>
              <a:t>(Overlapping Histogram)</a:t>
            </a:r>
          </a:p>
          <a:p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72716C-2473-443B-97FA-5C33EF63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068" y="340950"/>
            <a:ext cx="5821685" cy="375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2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5B63-BE73-4B8A-8644-70A67F1D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CEE74-9FA0-4E35-98C5-5987B5719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26987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endParaRPr lang="en-US" dirty="0"/>
          </a:p>
          <a:p>
            <a:r>
              <a:rPr lang="en-US" b="1" dirty="0"/>
              <a:t>3-4 Products: Near 100% churn rate (High risk).</a:t>
            </a:r>
          </a:p>
          <a:p>
            <a:r>
              <a:rPr lang="en-US" b="1" dirty="0"/>
              <a:t>2 Products: Highest customer loyalty</a:t>
            </a:r>
            <a:endParaRPr lang="en-AE" b="1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4A629-BED3-483B-A1C1-73A7F8D92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7. Product Count Impact (Stacked Bar Chart)</a:t>
            </a:r>
          </a:p>
          <a:p>
            <a:pPr algn="ctr"/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EFDD3-9E3A-4F38-B674-A00DE9502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91" y="510850"/>
            <a:ext cx="5163856" cy="337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86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5A87-594E-499A-82E4-CEB8B897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2930-828C-47B7-B651-84ABD5076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62846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r>
              <a:rPr lang="en-US" b="1" dirty="0"/>
              <a:t>Females show higher churn rates than males.</a:t>
            </a:r>
          </a:p>
          <a:p>
            <a:r>
              <a:rPr lang="en-AU" b="1" dirty="0"/>
              <a:t>Develop gender-specific retention strategies.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80BCD-1259-409B-B460-6F1A3E1C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8. Gender-wise Churn Analysis </a:t>
            </a:r>
          </a:p>
          <a:p>
            <a:pPr algn="ctr"/>
            <a:r>
              <a:rPr lang="en-US" sz="2000" b="1" dirty="0"/>
              <a:t>(Count Plot)</a:t>
            </a:r>
          </a:p>
          <a:p>
            <a:pPr algn="ctr"/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A85A6-27AA-48B7-9A3B-E45812C86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729" y="332898"/>
            <a:ext cx="5351929" cy="348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3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2EC2-1579-4968-A853-86049A82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EB10-0BD8-4F3B-80B2-C3A138475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6541685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endParaRPr lang="en-AE" dirty="0"/>
          </a:p>
          <a:p>
            <a:r>
              <a:rPr lang="en-US" b="1" dirty="0"/>
              <a:t>Significant dip at Tenure 7 (~0.17).</a:t>
            </a:r>
          </a:p>
          <a:p>
            <a:r>
              <a:rPr lang="en-US" b="1" dirty="0"/>
              <a:t>Churn rate spikes sharply from year 7 to 9.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150CE-9FD7-475D-8AF4-86C398085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9. Churn Rate by Tenure (Line Chart)</a:t>
            </a:r>
          </a:p>
          <a:p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70193C-A788-49DA-B43D-05D02512F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83" y="441816"/>
            <a:ext cx="5607921" cy="352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6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A251-287F-4F71-8DBC-B7C8E31B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79B45-AE20-4E57-8489-88F6DF10C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44917" cy="6858000"/>
          </a:xfrm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r>
              <a:rPr lang="en-US" b="1" dirty="0"/>
              <a:t>Similar salary levels across all three countries.</a:t>
            </a:r>
          </a:p>
          <a:p>
            <a:r>
              <a:rPr lang="en-US" b="1" dirty="0"/>
              <a:t>Suggesting income is not the main driver of regional churn.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07720-644A-4208-9196-99B49722B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10. Salary Distribution by Geography </a:t>
            </a:r>
          </a:p>
          <a:p>
            <a:pPr algn="ctr"/>
            <a:r>
              <a:rPr lang="en-US" sz="2000" b="1" dirty="0"/>
              <a:t>(Violin Plot)</a:t>
            </a:r>
          </a:p>
          <a:p>
            <a:pPr algn="ctr"/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83570-C3EB-4F6A-8164-94296AA3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601" y="423199"/>
            <a:ext cx="5668164" cy="379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39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37DF-4C04-4529-BC9C-0A406ED9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8B48E-1746-4615-8587-D3773901D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00093" cy="6858000"/>
          </a:xfrm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r>
              <a:rPr lang="en-US" b="1" dirty="0"/>
              <a:t>Churn rates are identical with or without credit cards.</a:t>
            </a:r>
          </a:p>
          <a:p>
            <a:r>
              <a:rPr lang="en-US" b="1" dirty="0"/>
              <a:t>Card ownership does not impact loyalty.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A93CF-46B1-40FE-B02E-CA75240B3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11. Churn Rate by Credit Card Ownership</a:t>
            </a:r>
          </a:p>
          <a:p>
            <a:pPr algn="ctr"/>
            <a:r>
              <a:rPr lang="en-US" sz="2000" b="1" dirty="0"/>
              <a:t>(Bar Plot)</a:t>
            </a:r>
          </a:p>
          <a:p>
            <a:pPr algn="ctr"/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F3266-22E4-4E75-9964-FA3C7CF66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980" y="415150"/>
            <a:ext cx="5173278" cy="358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08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A4CD-05BB-4421-BDFC-7FF0619E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EEC86-ADAD-4D33-9053-6D3203829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44917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endParaRPr lang="en-AE" dirty="0"/>
          </a:p>
          <a:p>
            <a:r>
              <a:rPr lang="en-US" b="1" dirty="0"/>
              <a:t>Churn risk rises from age 35, peaks at age 50–55.</a:t>
            </a:r>
          </a:p>
          <a:p>
            <a:r>
              <a:rPr lang="en-US" b="1" dirty="0"/>
              <a:t>Minor risk for under 35s and seniors.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6EE70-B947-44B1-90F8-F25959C09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8"/>
            <a:ext cx="4041648" cy="4800602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12. Churn Trend by Age</a:t>
            </a:r>
          </a:p>
          <a:p>
            <a:pPr algn="ctr"/>
            <a:r>
              <a:rPr lang="en-US" sz="2000" b="1" dirty="0"/>
              <a:t>(Line Plot)</a:t>
            </a:r>
          </a:p>
          <a:p>
            <a:pPr algn="ctr"/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4CD96-4961-44D3-8D61-788214E8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15" y="307349"/>
            <a:ext cx="5192773" cy="338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6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D3B9-F952-476B-8432-4F7174FA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1648" cy="2057397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VISUALIZATION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4D5D4-10CB-4AC6-A4A2-531D2E45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8" y="0"/>
            <a:ext cx="7244917" cy="6858000"/>
          </a:xfrm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US" b="1" dirty="0"/>
          </a:p>
          <a:p>
            <a:r>
              <a:rPr lang="en-US" b="1" dirty="0"/>
              <a:t>France occupies the largest portion of the customers.</a:t>
            </a:r>
          </a:p>
          <a:p>
            <a:r>
              <a:rPr lang="en-US" b="1" dirty="0"/>
              <a:t>Females in Germany have a higher churn rate.</a:t>
            </a:r>
            <a:endParaRPr lang="en-AE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9502B-E76E-41AD-94A7-95CC353C2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7"/>
            <a:ext cx="4041648" cy="4800603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 dirty="0"/>
          </a:p>
          <a:p>
            <a:endParaRPr lang="en-AE" dirty="0"/>
          </a:p>
          <a:p>
            <a:pPr algn="ctr"/>
            <a:r>
              <a:rPr lang="en-US" sz="2000" b="1" dirty="0"/>
              <a:t>13.Hierarchical Churn Breakdown </a:t>
            </a:r>
          </a:p>
          <a:p>
            <a:pPr algn="ctr"/>
            <a:r>
              <a:rPr lang="en-US" sz="2000" b="1" dirty="0"/>
              <a:t>(Sunburst Chart)</a:t>
            </a:r>
          </a:p>
          <a:p>
            <a:pPr algn="ctr"/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C90D6-051B-4147-BFF6-0670CA813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106" y="304896"/>
            <a:ext cx="4267200" cy="362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49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B112-0391-4917-984C-B0456EAA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04494" cy="169132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RECOMMENDATIONS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2236-7FE8-4D4C-AD31-780138C9B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1322"/>
            <a:ext cx="11304493" cy="516667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000" b="1" dirty="0"/>
              <a:t>Regional:</a:t>
            </a:r>
            <a:r>
              <a:rPr lang="en-US" sz="2000" dirty="0"/>
              <a:t> Launch a competitive audit and loyalty program in Germany.</a:t>
            </a:r>
          </a:p>
          <a:p>
            <a:r>
              <a:rPr lang="en-US" sz="2000" b="1" dirty="0"/>
              <a:t>Retention:</a:t>
            </a:r>
            <a:r>
              <a:rPr lang="en-US" sz="2000" dirty="0"/>
              <a:t> Create "Wealth Management" perks for the 40–55 age group.</a:t>
            </a:r>
          </a:p>
          <a:p>
            <a:r>
              <a:rPr lang="en-US" sz="2000" b="1" dirty="0"/>
              <a:t>Product:</a:t>
            </a:r>
            <a:r>
              <a:rPr lang="en-US" sz="2000" dirty="0"/>
              <a:t> Focus on moving 1-product customers to 2-products.</a:t>
            </a:r>
          </a:p>
          <a:p>
            <a:r>
              <a:rPr lang="en-US" sz="2000" b="1" dirty="0"/>
              <a:t>Engagement: </a:t>
            </a:r>
            <a:r>
              <a:rPr lang="en-US" sz="2000" dirty="0"/>
              <a:t>Launch re-activation campaigns for inactive members.</a:t>
            </a: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563488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7856-FDFD-41E0-A725-61F65C9E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1286565" cy="169132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/>
              <a:t>CONCLUSION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C20D7-4342-4106-BB26-8BC86B08B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1322"/>
            <a:ext cx="11286564" cy="516667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  <a:p>
            <a:r>
              <a:rPr lang="en-US" sz="2000" b="1" dirty="0"/>
              <a:t>Summary:</a:t>
            </a:r>
            <a:r>
              <a:rPr lang="en-US" sz="2000" dirty="0"/>
              <a:t> By targeting the German market and the 40+ age demographic, the bank can reduce churn by an estimated 5–10%.</a:t>
            </a:r>
          </a:p>
          <a:p>
            <a:r>
              <a:rPr lang="en-US" sz="2000" b="1" dirty="0"/>
              <a:t>Next Step: </a:t>
            </a:r>
            <a:r>
              <a:rPr lang="en-US" sz="2000" dirty="0"/>
              <a:t>Implement </a:t>
            </a:r>
            <a:r>
              <a:rPr lang="en-US" sz="2000" i="1" dirty="0"/>
              <a:t>a Machine Learning Early-Warning System </a:t>
            </a:r>
            <a:r>
              <a:rPr lang="en-US" sz="2000" dirty="0"/>
              <a:t>to flag high-risk customers in real-time.</a:t>
            </a: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1737086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84C8-A7EC-4BB8-9A42-210DE7A85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522130"/>
          </a:xfrm>
        </p:spPr>
        <p:txBody>
          <a:bodyPr/>
          <a:lstStyle/>
          <a:p>
            <a:r>
              <a:rPr lang="en-US" dirty="0"/>
              <a:t>THANK YOU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7150647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1540</TotalTime>
  <Words>667</Words>
  <Application>Microsoft Office PowerPoint</Application>
  <PresentationFormat>Widescreen</PresentationFormat>
  <Paragraphs>273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Century Schoolbook</vt:lpstr>
      <vt:lpstr>Wingdings 2</vt:lpstr>
      <vt:lpstr>View</vt:lpstr>
      <vt:lpstr>BANK-CUSTOMER-CHURN</vt:lpstr>
      <vt:lpstr>PowerPoint Presentation</vt:lpstr>
      <vt:lpstr>DATA LOADING</vt:lpstr>
      <vt:lpstr>DATA PREPROCESSING</vt:lpstr>
      <vt:lpstr>EXPLORATORY  ANALYSIS</vt:lpstr>
      <vt:lpstr>STATISTICAL ANALYSIS</vt:lpstr>
      <vt:lpstr>STATISTICAL ANALYSIS</vt:lpstr>
      <vt:lpstr>STATISTICAL ANALYSIS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RECOMMENDATIONS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BANK-CUSTOMER-CHURN</dc:title>
  <dc:creator>Rukkiya Riyas</dc:creator>
  <cp:lastModifiedBy>Rukkiya Riyas</cp:lastModifiedBy>
  <cp:revision>23</cp:revision>
  <dcterms:created xsi:type="dcterms:W3CDTF">2026-03-31T14:10:10Z</dcterms:created>
  <dcterms:modified xsi:type="dcterms:W3CDTF">2026-04-05T08:36:05Z</dcterms:modified>
</cp:coreProperties>
</file>