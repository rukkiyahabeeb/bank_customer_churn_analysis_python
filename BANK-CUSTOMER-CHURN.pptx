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72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85" d="100"/>
          <a:sy n="85" d="100"/>
        </p:scale>
        <p:origin x="59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chemeClr val="bg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61872" y="758952"/>
            <a:ext cx="9418320" cy="4041648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720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61872" y="4800600"/>
            <a:ext cx="9418320" cy="1691640"/>
          </a:xfrm>
        </p:spPr>
        <p:txBody>
          <a:bodyPr>
            <a:normAutofit/>
          </a:bodyPr>
          <a:lstStyle>
            <a:lvl1pPr marL="0" indent="0" algn="l">
              <a:buNone/>
              <a:defRPr sz="2200" baseline="0">
                <a:solidFill>
                  <a:schemeClr val="tx1">
                    <a:lumMod val="75000"/>
                  </a:schemeClr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50000"/>
                  </a:schemeClr>
                </a:solidFill>
              </a:defRPr>
            </a:lvl1pPr>
          </a:lstStyle>
          <a:p>
            <a:fld id="{5923F103-BC34-4FE4-A40E-EDDEECFDA5D0}" type="datetimeFigureOut">
              <a:rPr lang="en-US" smtClean="0"/>
              <a:pPr/>
              <a:t>4/1/2026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</a:schemeClr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66044924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C9CA7B-DFD4-44B5-8C60-D14B8CD1FB59}" type="datetimeFigureOut">
              <a:rPr lang="en-US" smtClean="0"/>
              <a:t>4/1/2026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19033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61872" y="758952"/>
            <a:ext cx="9418320" cy="4041648"/>
          </a:xfrm>
        </p:spPr>
        <p:txBody>
          <a:bodyPr anchor="b">
            <a:normAutofit/>
          </a:bodyPr>
          <a:lstStyle>
            <a:lvl1pPr>
              <a:lnSpc>
                <a:spcPct val="85000"/>
              </a:lnSpc>
              <a:defRPr sz="72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4800600"/>
            <a:ext cx="9418320" cy="1691640"/>
          </a:xfrm>
        </p:spPr>
        <p:txBody>
          <a:bodyPr anchor="t">
            <a:normAutofit/>
          </a:bodyPr>
          <a:lstStyle>
            <a:lvl1pPr marL="0" indent="0">
              <a:buNone/>
              <a:defRPr sz="2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4E6425-0181-43F2-84FC-787E803FD2F8}" type="datetimeFigureOut">
              <a:rPr lang="en-US" smtClean="0"/>
              <a:t>4/1/2026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7854116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61872" y="1828800"/>
            <a:ext cx="4480560" cy="4351337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6480" y="1828800"/>
            <a:ext cx="4480560" cy="4351337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DB8791-F1B0-41E7-B7FD-A781E65C4266}" type="datetimeFigureOut">
              <a:rPr lang="en-US" smtClean="0"/>
              <a:t>4/1/2026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658034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1713655"/>
            <a:ext cx="4480560" cy="73152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61872" y="2507550"/>
            <a:ext cx="4480560" cy="366465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26480" y="1713655"/>
            <a:ext cx="4480560" cy="731520"/>
          </a:xfrm>
        </p:spPr>
        <p:txBody>
          <a:bodyPr anchor="b">
            <a:normAutofit/>
          </a:bodyPr>
          <a:lstStyle>
            <a:lvl1pPr marL="0" indent="0">
              <a:lnSpc>
                <a:spcPct val="95000"/>
              </a:lnSpc>
              <a:spcBef>
                <a:spcPts val="0"/>
              </a:spcBef>
              <a:buNone/>
              <a:defRPr lang="en-US" sz="2000" b="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2000"/>
              </a:spcBef>
              <a:buFontTx/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26480" y="2507550"/>
            <a:ext cx="4480560" cy="366465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DD63B2-E120-4ED8-B27B-C685F510A5FE}" type="datetimeFigureOut">
              <a:rPr lang="en-US" smtClean="0"/>
              <a:t>4/1/2026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095072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A18ACC-A947-437B-A130-35BD54FDF1E9}" type="datetimeFigureOut">
              <a:rPr lang="en-US" smtClean="0"/>
              <a:t>4/1/2026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530571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D7E02-BCB8-4D50-A234-369438C08659}" type="datetimeFigureOut">
              <a:rPr lang="en-US" smtClean="0"/>
              <a:t>4/1/2026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200758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457200"/>
            <a:ext cx="3200400" cy="1600197"/>
          </a:xfrm>
        </p:spPr>
        <p:txBody>
          <a:bodyPr anchor="b">
            <a:normAutofit/>
          </a:bodyPr>
          <a:lstStyle>
            <a:lvl1pPr>
              <a:defRPr sz="3200" b="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04267" y="685800"/>
            <a:ext cx="6079066" cy="548640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1248" y="2099734"/>
            <a:ext cx="3200400" cy="3810001"/>
          </a:xfrm>
        </p:spPr>
        <p:txBody>
          <a:bodyPr>
            <a:normAutofit/>
          </a:bodyPr>
          <a:lstStyle>
            <a:lvl1pPr marL="0" indent="0">
              <a:lnSpc>
                <a:spcPct val="114000"/>
              </a:lnSpc>
              <a:spcBef>
                <a:spcPts val="800"/>
              </a:spcBef>
              <a:buNone/>
              <a:defRPr sz="13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E86A4C-8E40-4F87-A4F0-01A0687C5742}" type="datetimeFigureOut">
              <a:rPr lang="en-US" smtClean="0"/>
              <a:t>4/1/2026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82654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5105400"/>
            <a:ext cx="11292840" cy="17526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5257800"/>
            <a:ext cx="9982200" cy="914400"/>
          </a:xfrm>
        </p:spPr>
        <p:txBody>
          <a:bodyPr anchor="b">
            <a:normAutofit/>
          </a:bodyPr>
          <a:lstStyle>
            <a:lvl1pPr>
              <a:defRPr sz="2800" b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11292840" cy="5128923"/>
          </a:xfrm>
          <a:solidFill>
            <a:schemeClr val="accent1"/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4400" y="6108589"/>
            <a:ext cx="9982200" cy="597011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800"/>
              </a:spcBef>
              <a:buNone/>
              <a:defRPr sz="1300">
                <a:solidFill>
                  <a:schemeClr val="bg1">
                    <a:lumMod val="85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E72C73-2D91-4E12-BA25-F0AA0C03599B}" type="datetimeFigureOut">
              <a:rPr lang="en-US" smtClean="0"/>
              <a:t>4/1/2026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191519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6D93-FCAC-47E0-A2EE-787E62CA814C}" type="datetimeFigureOut">
              <a:rPr lang="en-US" smtClean="0"/>
              <a:t>4/1/2026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395738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48700" y="381000"/>
            <a:ext cx="2476500" cy="589756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62000" y="381000"/>
            <a:ext cx="7734300" cy="589756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A879A6-0FD0-4734-A311-86BFCA472E6E}" type="datetimeFigureOut">
              <a:rPr lang="en-US" smtClean="0"/>
              <a:t>4/1/2026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039794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1292840" y="0"/>
            <a:ext cx="914400" cy="6858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61872" y="365760"/>
            <a:ext cx="9692640" cy="132556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1828800"/>
            <a:ext cx="8595360" cy="43513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16200000">
            <a:off x="10797542" y="998537"/>
            <a:ext cx="1904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 b="0">
                <a:solidFill>
                  <a:schemeClr val="tx2">
                    <a:lumMod val="20000"/>
                    <a:lumOff val="80000"/>
                  </a:schemeClr>
                </a:solidFill>
              </a:defRPr>
            </a:lvl1pPr>
          </a:lstStyle>
          <a:p>
            <a:fld id="{2BE451C3-0FF4-47C4-B829-773ADF60F88C}" type="datetimeFigureOut">
              <a:rPr lang="en-US" smtClean="0"/>
              <a:t>4/1/2026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16200000">
            <a:off x="9959341" y="4046537"/>
            <a:ext cx="358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2">
                    <a:lumMod val="20000"/>
                    <a:lumOff val="8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92840" y="6172200"/>
            <a:ext cx="914400" cy="593725"/>
          </a:xfrm>
          <a:prstGeom prst="rect">
            <a:avLst/>
          </a:prstGeom>
        </p:spPr>
        <p:txBody>
          <a:bodyPr vert="horz" lIns="45720" tIns="45720" rIns="45720" bIns="45720" rtlCol="0" anchor="ctr">
            <a:normAutofit/>
          </a:bodyPr>
          <a:lstStyle>
            <a:lvl1pPr algn="ctr">
              <a:defRPr sz="360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2650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9" r:id="rId1"/>
    <p:sldLayoutId id="2147483730" r:id="rId2"/>
    <p:sldLayoutId id="2147483731" r:id="rId3"/>
    <p:sldLayoutId id="2147483732" r:id="rId4"/>
    <p:sldLayoutId id="2147483733" r:id="rId5"/>
    <p:sldLayoutId id="2147483734" r:id="rId6"/>
    <p:sldLayoutId id="2147483735" r:id="rId7"/>
    <p:sldLayoutId id="2147483736" r:id="rId8"/>
    <p:sldLayoutId id="2147483737" r:id="rId9"/>
    <p:sldLayoutId id="2147483738" r:id="rId10"/>
    <p:sldLayoutId id="2147483739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 spc="-5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5000"/>
        </a:lnSpc>
        <a:spcBef>
          <a:spcPts val="1400"/>
        </a:spcBef>
        <a:spcAft>
          <a:spcPts val="200"/>
        </a:spcAft>
        <a:buClr>
          <a:schemeClr val="accent1"/>
        </a:buClr>
        <a:buSzPct val="80000"/>
        <a:buFont typeface="Arial" pitchFamily="34" charset="0"/>
        <a:buChar char="•"/>
        <a:defRPr sz="1800" kern="1200" spc="10" baseline="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30739B-7223-4DE7-A43C-BD9B2F55535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74375" y="758952"/>
            <a:ext cx="10856259" cy="3248272"/>
          </a:xfrm>
        </p:spPr>
        <p:txBody>
          <a:bodyPr>
            <a:normAutofit/>
          </a:bodyPr>
          <a:lstStyle/>
          <a:p>
            <a:r>
              <a:rPr lang="en-US" sz="6000" dirty="0"/>
              <a:t>BANK-CUSTOMER-CHURN</a:t>
            </a:r>
            <a:endParaRPr lang="en-AE" sz="60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8B089B5-5A3B-4B7D-A053-13F44A9DB0C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43943" y="4007224"/>
            <a:ext cx="9418320" cy="1691640"/>
          </a:xfrm>
        </p:spPr>
        <p:txBody>
          <a:bodyPr>
            <a:normAutofit/>
          </a:bodyPr>
          <a:lstStyle/>
          <a:p>
            <a:r>
              <a:rPr lang="en-US" sz="2800" dirty="0"/>
              <a:t>PYTHON FOR BANKING</a:t>
            </a:r>
            <a:endParaRPr lang="en-AE" sz="2800" dirty="0"/>
          </a:p>
        </p:txBody>
      </p:sp>
    </p:spTree>
    <p:extLst>
      <p:ext uri="{BB962C8B-B14F-4D97-AF65-F5344CB8AC3E}">
        <p14:creationId xmlns:p14="http://schemas.microsoft.com/office/powerpoint/2010/main" val="3259090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84D6E6-E9D2-40E2-ABBF-C0CC817C7B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90154" y="582707"/>
            <a:ext cx="8595360" cy="5202984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2800" b="1" dirty="0"/>
              <a:t>Dataset</a:t>
            </a:r>
            <a:r>
              <a:rPr lang="en-US" sz="2800" dirty="0"/>
              <a:t>:</a:t>
            </a:r>
          </a:p>
          <a:p>
            <a:r>
              <a:rPr lang="en-US" dirty="0"/>
              <a:t> </a:t>
            </a:r>
            <a:r>
              <a:rPr lang="en-US" sz="2000" dirty="0"/>
              <a:t>From </a:t>
            </a:r>
            <a:r>
              <a:rPr lang="en-US" sz="2000" u="sng" dirty="0">
                <a:solidFill>
                  <a:srgbClr val="0070C0"/>
                </a:solidFill>
              </a:rPr>
              <a:t>mavenanalytics.io</a:t>
            </a:r>
          </a:p>
          <a:p>
            <a:r>
              <a:rPr lang="en-US" sz="2000" dirty="0"/>
              <a:t>10,000 customers across France, Germany, and Spain.</a:t>
            </a:r>
            <a:endParaRPr lang="en-AE" sz="2000" dirty="0"/>
          </a:p>
          <a:p>
            <a:r>
              <a:rPr lang="en-US" sz="2000" dirty="0"/>
              <a:t>Credit Score, Geography, Age, Tenure, Balance, and Product Count.</a:t>
            </a:r>
          </a:p>
          <a:p>
            <a:r>
              <a:rPr lang="en-US" sz="2000" dirty="0"/>
              <a:t>Language: Python 3.x</a:t>
            </a:r>
          </a:p>
          <a:p>
            <a:r>
              <a:rPr lang="en-US" sz="2000" dirty="0"/>
              <a:t>Data Manipulation: Pandas, NumPy</a:t>
            </a:r>
          </a:p>
          <a:p>
            <a:r>
              <a:rPr lang="en-US" sz="2000" dirty="0"/>
              <a:t>Visualization: Matplotlib, Seaborn, Plotly (Interactive).</a:t>
            </a:r>
          </a:p>
          <a:p>
            <a:pPr marL="0" indent="0">
              <a:buNone/>
            </a:pPr>
            <a:endParaRPr lang="en-US" sz="2000" dirty="0">
              <a:solidFill>
                <a:srgbClr val="0070C0"/>
              </a:solidFill>
            </a:endParaRPr>
          </a:p>
          <a:p>
            <a:pPr marL="0" indent="0">
              <a:buNone/>
            </a:pPr>
            <a:r>
              <a:rPr lang="en-US" sz="2800" b="1" dirty="0"/>
              <a:t>The Objective</a:t>
            </a:r>
            <a:r>
              <a:rPr lang="en-US" sz="2800" dirty="0"/>
              <a:t>:</a:t>
            </a:r>
          </a:p>
          <a:p>
            <a:r>
              <a:rPr lang="en-US" sz="2000" dirty="0"/>
              <a:t> Identify high-risk segments and provide mitigation strategies.</a:t>
            </a:r>
          </a:p>
          <a:p>
            <a:r>
              <a:rPr lang="en-US" sz="2000" dirty="0"/>
              <a:t> Data-driven insights to reduce attrition. </a:t>
            </a:r>
            <a:endParaRPr lang="en-US" sz="2000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124746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FABEFE-41EF-4A72-9D65-1470F36409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4760259" cy="2057397"/>
          </a:xfrm>
          <a:solidFill>
            <a:schemeClr val="bg1">
              <a:lumMod val="50000"/>
            </a:schemeClr>
          </a:solidFill>
        </p:spPr>
        <p:txBody>
          <a:bodyPr/>
          <a:lstStyle/>
          <a:p>
            <a:r>
              <a:rPr lang="en-US" sz="3600" dirty="0"/>
              <a:t>DATA LOADING</a:t>
            </a:r>
            <a:endParaRPr lang="en-AE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3EA42983-8FFF-4DAD-AA3A-9D0D4C5D91D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913312" y="869577"/>
            <a:ext cx="6193959" cy="2178684"/>
          </a:xfr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332FD10-8775-45B9-97BC-3080B7F68B2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0" y="2057397"/>
            <a:ext cx="4760259" cy="4800603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 sz="2400" dirty="0"/>
              <a:t>Initial Overview of Data set: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Columns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Head()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Tail()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Shape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Info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Describe()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Dtypes</a:t>
            </a:r>
          </a:p>
          <a:p>
            <a:endParaRPr lang="en-U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AE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9BB10FB-CA22-4B30-A526-7FA985FC16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3312" y="3048260"/>
            <a:ext cx="6193959" cy="32449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90496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DDD2F0-AB35-4272-8698-48E40903D9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4041648" cy="2012574"/>
          </a:xfrm>
          <a:solidFill>
            <a:schemeClr val="bg1">
              <a:lumMod val="50000"/>
            </a:schemeClr>
          </a:solidFill>
        </p:spPr>
        <p:txBody>
          <a:bodyPr/>
          <a:lstStyle/>
          <a:p>
            <a:r>
              <a:rPr lang="en-US" dirty="0"/>
              <a:t>DATA PREPROCESSING</a:t>
            </a:r>
            <a:endParaRPr lang="en-AE" dirty="0"/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E23206EF-5EAF-47A2-AFE3-DAB27C22E5A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503737" y="1541930"/>
            <a:ext cx="6433204" cy="1618840"/>
          </a:xfr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A74519C-8197-495C-AF41-D931A7F019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0" y="2012575"/>
            <a:ext cx="4041648" cy="4845425"/>
          </a:xfrm>
          <a:solidFill>
            <a:schemeClr val="bg1">
              <a:lumMod val="65000"/>
            </a:schemeClr>
          </a:solidFill>
        </p:spPr>
        <p:txBody>
          <a:bodyPr>
            <a:normAutofit/>
          </a:bodyPr>
          <a:lstStyle/>
          <a:p>
            <a:endParaRPr lang="en-U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NULL data handling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Duplicate data handling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Column Renaming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Derived columns</a:t>
            </a:r>
            <a:endParaRPr lang="en-AE" sz="1600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8EFD9730-14F8-460B-A8BF-3510C2203A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3737" y="3429000"/>
            <a:ext cx="6433204" cy="2152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34504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78E069-8587-4233-A6DC-E5BF40AE0F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4041648" cy="2057397"/>
          </a:xfrm>
          <a:solidFill>
            <a:schemeClr val="bg1">
              <a:lumMod val="50000"/>
            </a:schemeClr>
          </a:solidFill>
        </p:spPr>
        <p:txBody>
          <a:bodyPr/>
          <a:lstStyle/>
          <a:p>
            <a:r>
              <a:rPr lang="en-US" dirty="0"/>
              <a:t>EXPLORATORY  ANALYSIS</a:t>
            </a:r>
            <a:endParaRPr lang="en-AE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1FE152E3-C5C9-47C0-8ABF-4D984D74886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222377" y="355417"/>
            <a:ext cx="6634069" cy="953613"/>
          </a:xfr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3ACF2D-3B06-466C-AE95-EFC08231214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0" y="2057397"/>
            <a:ext cx="4041648" cy="4800603"/>
          </a:xfrm>
          <a:solidFill>
            <a:schemeClr val="bg1">
              <a:lumMod val="65000"/>
            </a:schemeClr>
          </a:solidFill>
        </p:spPr>
        <p:txBody>
          <a:bodyPr/>
          <a:lstStyle/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AE" sz="2400" dirty="0"/>
              <a:t>Group By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AE" sz="2400" dirty="0"/>
              <a:t>Pivot Table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605D3C1-CC8A-48F4-A843-CA3E9DF367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79854" y="1337416"/>
            <a:ext cx="3804805" cy="151336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A217758-7E01-4578-B6B9-951A04209AC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22377" y="3459512"/>
            <a:ext cx="6634069" cy="1434353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7BA45D2-2813-495F-B00E-3C0538042D3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79853" y="4893865"/>
            <a:ext cx="4041649" cy="18408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11168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3C8E86-F6F0-485A-919F-7522E8A7C3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1295529" cy="1592711"/>
          </a:xfrm>
          <a:solidFill>
            <a:schemeClr val="bg1">
              <a:lumMod val="50000"/>
            </a:schemeClr>
          </a:solidFill>
        </p:spPr>
        <p:txBody>
          <a:bodyPr/>
          <a:lstStyle/>
          <a:p>
            <a:r>
              <a:rPr lang="en-US" dirty="0"/>
              <a:t>STATISTICAL ANALYSIS</a:t>
            </a:r>
            <a:endParaRPr lang="en-AE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59AC61E-5BB2-440A-BBED-6883F139B9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1" y="1610640"/>
            <a:ext cx="11295529" cy="4405127"/>
          </a:xfrm>
          <a:noFill/>
        </p:spPr>
        <p:txBody>
          <a:bodyPr/>
          <a:lstStyle/>
          <a:p>
            <a:pPr marL="0" indent="0">
              <a:buNone/>
            </a:pPr>
            <a:endParaRPr lang="en-US" sz="3200" dirty="0"/>
          </a:p>
          <a:p>
            <a:pPr marL="0" indent="0">
              <a:buNone/>
            </a:pPr>
            <a:r>
              <a:rPr lang="en-US" sz="3200" b="1" dirty="0"/>
              <a:t>Numerical Column Summary:</a:t>
            </a:r>
          </a:p>
          <a:p>
            <a:r>
              <a:rPr lang="en-US" sz="2400" b="1" dirty="0"/>
              <a:t>Average Age: </a:t>
            </a:r>
            <a:r>
              <a:rPr lang="en-US" sz="2400" dirty="0"/>
              <a:t>Typically 38–40 years.</a:t>
            </a:r>
          </a:p>
          <a:p>
            <a:r>
              <a:rPr lang="en-US" sz="2400" b="1" dirty="0"/>
              <a:t>Churn Rate: </a:t>
            </a:r>
            <a:r>
              <a:rPr lang="en-US" sz="2400" dirty="0"/>
              <a:t>Approximately 20% of customers have left.</a:t>
            </a:r>
          </a:p>
          <a:p>
            <a:r>
              <a:rPr lang="en-US" sz="2400" b="1" dirty="0"/>
              <a:t>Account Balance: </a:t>
            </a:r>
            <a:r>
              <a:rPr lang="en-US" sz="2400" dirty="0"/>
              <a:t>High frequency, suggesting inactive or secondary accounts. </a:t>
            </a:r>
          </a:p>
          <a:p>
            <a:pPr marL="0" indent="0">
              <a:buNone/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3487158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D813CF-7184-44FE-9117-0E3055BD59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1349318" cy="1595718"/>
          </a:xfrm>
          <a:solidFill>
            <a:schemeClr val="bg1">
              <a:lumMod val="50000"/>
            </a:schemeClr>
          </a:solidFill>
        </p:spPr>
        <p:txBody>
          <a:bodyPr/>
          <a:lstStyle/>
          <a:p>
            <a:r>
              <a:rPr lang="en-US" dirty="0"/>
              <a:t>STATISTICAL ANALYSIS</a:t>
            </a:r>
            <a:endParaRPr lang="en-A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A44204-0AFA-4A66-8189-5CAA04C364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340644"/>
            <a:ext cx="11286564" cy="4839493"/>
          </a:xfrm>
        </p:spPr>
        <p:txBody>
          <a:bodyPr/>
          <a:lstStyle/>
          <a:p>
            <a:endParaRPr lang="en-US" dirty="0"/>
          </a:p>
          <a:p>
            <a:pPr marL="0" indent="0">
              <a:buNone/>
            </a:pPr>
            <a:endParaRPr lang="en-AE" sz="3200" b="1" dirty="0"/>
          </a:p>
          <a:p>
            <a:pPr marL="0" indent="0">
              <a:buNone/>
            </a:pPr>
            <a:r>
              <a:rPr lang="en-AE" sz="3200" b="1" dirty="0"/>
              <a:t>Categorical Column Summary:</a:t>
            </a:r>
          </a:p>
          <a:p>
            <a:r>
              <a:rPr lang="en-US" sz="2400" b="1" dirty="0"/>
              <a:t>Geography:</a:t>
            </a:r>
            <a:r>
              <a:rPr lang="en-US" sz="2400" dirty="0"/>
              <a:t> Data dominated by France.</a:t>
            </a:r>
          </a:p>
          <a:p>
            <a:r>
              <a:rPr lang="en-US" sz="2400" b="1" dirty="0"/>
              <a:t>Gender:</a:t>
            </a:r>
            <a:r>
              <a:rPr lang="en-US" sz="2400" dirty="0"/>
              <a:t> Mostly balanced, with higher female churn in specific clusters.</a:t>
            </a:r>
            <a:endParaRPr lang="en-AE" sz="2400" dirty="0"/>
          </a:p>
        </p:txBody>
      </p:sp>
    </p:spTree>
    <p:extLst>
      <p:ext uri="{BB962C8B-B14F-4D97-AF65-F5344CB8AC3E}">
        <p14:creationId xmlns:p14="http://schemas.microsoft.com/office/powerpoint/2010/main" val="335984682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609935-B8D5-44E0-BFB8-07A15504E9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11313459" cy="1691322"/>
          </a:xfrm>
          <a:solidFill>
            <a:schemeClr val="bg1">
              <a:lumMod val="50000"/>
            </a:schemeClr>
          </a:solidFill>
        </p:spPr>
        <p:txBody>
          <a:bodyPr/>
          <a:lstStyle/>
          <a:p>
            <a:r>
              <a:rPr lang="en-US" dirty="0"/>
              <a:t>STATISTICAL ANALYSIS</a:t>
            </a:r>
            <a:endParaRPr lang="en-A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FA4AA7-8A6C-42D5-A00E-826EE24EA6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1" y="1691322"/>
            <a:ext cx="11313459" cy="4488815"/>
          </a:xfrm>
        </p:spPr>
        <p:txBody>
          <a:bodyPr/>
          <a:lstStyle/>
          <a:p>
            <a:pPr marL="0" indent="0">
              <a:buNone/>
            </a:pPr>
            <a:endParaRPr lang="en-AU" b="1" dirty="0"/>
          </a:p>
          <a:p>
            <a:pPr marL="0" indent="0">
              <a:buNone/>
            </a:pPr>
            <a:endParaRPr lang="en-AU" sz="3200" b="1" dirty="0"/>
          </a:p>
          <a:p>
            <a:pPr marL="0" indent="0">
              <a:buNone/>
            </a:pPr>
            <a:r>
              <a:rPr lang="en-AU" sz="3200" b="1" dirty="0"/>
              <a:t>Grouped Statistics by Churn:</a:t>
            </a:r>
          </a:p>
          <a:p>
            <a:r>
              <a:rPr lang="en-US" sz="2400" b="1" dirty="0"/>
              <a:t>High-Value Loss:</a:t>
            </a:r>
            <a:r>
              <a:rPr lang="en-US" sz="2400" dirty="0"/>
              <a:t> Churned customers hold higher average balances,      indicating a loss of premium clients.</a:t>
            </a:r>
          </a:p>
          <a:p>
            <a:r>
              <a:rPr lang="en-US" sz="2400" b="1" dirty="0"/>
              <a:t>Age Factor:</a:t>
            </a:r>
            <a:r>
              <a:rPr lang="en-US" sz="2400" dirty="0"/>
              <a:t> Customers 40+ are more likely to leave. </a:t>
            </a:r>
          </a:p>
          <a:p>
            <a:endParaRPr lang="en-AU" b="1" dirty="0"/>
          </a:p>
          <a:p>
            <a:pPr marL="0" indent="0">
              <a:buNone/>
            </a:pPr>
            <a:endParaRPr lang="en-AE" dirty="0"/>
          </a:p>
        </p:txBody>
      </p:sp>
    </p:spTree>
    <p:extLst>
      <p:ext uri="{BB962C8B-B14F-4D97-AF65-F5344CB8AC3E}">
        <p14:creationId xmlns:p14="http://schemas.microsoft.com/office/powerpoint/2010/main" val="33820561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E80CD7-786E-471F-9D8A-3747954DAC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4041648" cy="2057397"/>
          </a:xfrm>
          <a:solidFill>
            <a:schemeClr val="bg1">
              <a:lumMod val="50000"/>
            </a:schemeClr>
          </a:solidFill>
        </p:spPr>
        <p:txBody>
          <a:bodyPr/>
          <a:lstStyle/>
          <a:p>
            <a:r>
              <a:rPr lang="en-US" dirty="0"/>
              <a:t>VISUALIZATION</a:t>
            </a:r>
            <a:endParaRPr lang="en-A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CC2F3D-90F2-4994-823A-20B263211E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41648" y="0"/>
            <a:ext cx="7244917" cy="6858000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endParaRPr lang="en-AU" dirty="0"/>
          </a:p>
          <a:p>
            <a:endParaRPr lang="en-AU" b="1" dirty="0"/>
          </a:p>
          <a:p>
            <a:r>
              <a:rPr lang="en-AU" b="1" dirty="0"/>
              <a:t>Clear class imbalance.</a:t>
            </a:r>
          </a:p>
          <a:p>
            <a:r>
              <a:rPr lang="en-US" b="1" dirty="0"/>
              <a:t>20% of customers exited (1 in 5).</a:t>
            </a:r>
            <a:endParaRPr lang="en-AE" b="1" dirty="0"/>
          </a:p>
          <a:p>
            <a:pPr marL="0" indent="0">
              <a:buNone/>
            </a:pPr>
            <a:endParaRPr lang="en-AE" sz="1800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8BF9722-F26C-4F61-A07E-7C01C1DB9CD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0" y="2057397"/>
            <a:ext cx="4041648" cy="4800603"/>
          </a:xfrm>
          <a:solidFill>
            <a:schemeClr val="bg1">
              <a:lumMod val="65000"/>
            </a:schemeClr>
          </a:solidFill>
        </p:spPr>
        <p:txBody>
          <a:bodyPr/>
          <a:lstStyle/>
          <a:p>
            <a:endParaRPr lang="en-US" dirty="0"/>
          </a:p>
          <a:p>
            <a:endParaRPr lang="en-US" dirty="0"/>
          </a:p>
          <a:p>
            <a:pPr algn="ctr"/>
            <a:r>
              <a:rPr lang="en-US" sz="2000" b="1" dirty="0"/>
              <a:t>1</a:t>
            </a:r>
            <a:r>
              <a:rPr lang="en-US" sz="2000" dirty="0"/>
              <a:t>.</a:t>
            </a:r>
            <a:r>
              <a:rPr lang="en-US" sz="2000" b="1" dirty="0"/>
              <a:t> Overall Churn Proportion      (Pie Chart)</a:t>
            </a:r>
          </a:p>
          <a:p>
            <a:endParaRPr lang="en-AE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9BD6945-C4A6-4555-A7DF-F92EA1054F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7033" y="189175"/>
            <a:ext cx="4286920" cy="3477389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5350393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F8A214-C7C7-4F02-AD01-0503580799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4041648" cy="2057397"/>
          </a:xfrm>
          <a:solidFill>
            <a:schemeClr val="bg1">
              <a:lumMod val="50000"/>
            </a:schemeClr>
          </a:solidFill>
        </p:spPr>
        <p:txBody>
          <a:bodyPr/>
          <a:lstStyle/>
          <a:p>
            <a:r>
              <a:rPr lang="en-US" dirty="0"/>
              <a:t>VISUALIZATION</a:t>
            </a:r>
            <a:endParaRPr lang="en-A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21E00E-BD1D-403A-82C7-C070331507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41648" y="0"/>
            <a:ext cx="7253881" cy="6858000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r>
              <a:rPr lang="en-US" b="1" dirty="0"/>
              <a:t>France has the most customers.</a:t>
            </a:r>
          </a:p>
          <a:p>
            <a:r>
              <a:rPr lang="en-US" b="1" dirty="0"/>
              <a:t>Germany has the highest churn proportion</a:t>
            </a:r>
            <a:endParaRPr lang="en-AE" b="1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68D5ED0-E73C-40B8-A98B-2412414F55B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0" y="2057397"/>
            <a:ext cx="4041648" cy="4800603"/>
          </a:xfrm>
          <a:solidFill>
            <a:schemeClr val="bg1">
              <a:lumMod val="65000"/>
            </a:schemeClr>
          </a:solidFill>
        </p:spPr>
        <p:txBody>
          <a:bodyPr/>
          <a:lstStyle/>
          <a:p>
            <a:endParaRPr lang="en-US" dirty="0"/>
          </a:p>
          <a:p>
            <a:endParaRPr lang="en-AE" dirty="0"/>
          </a:p>
          <a:p>
            <a:pPr algn="ctr"/>
            <a:r>
              <a:rPr lang="en-AE" sz="2000" b="1" dirty="0"/>
              <a:t>2.</a:t>
            </a:r>
            <a:r>
              <a:rPr lang="en-US" sz="2000" b="1" dirty="0"/>
              <a:t> Churn Frequency by         Country</a:t>
            </a:r>
          </a:p>
          <a:p>
            <a:r>
              <a:rPr lang="en-US" sz="2000" b="1" dirty="0"/>
              <a:t>                 (Bar Plot)</a:t>
            </a:r>
          </a:p>
          <a:p>
            <a:endParaRPr lang="en-AE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56E5EE4-3BC9-4A06-9248-20F3166C95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7150" y="318050"/>
            <a:ext cx="5573104" cy="3769856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62208358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77A56D-6D03-41EE-8D08-4869A392FC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4041648" cy="2057397"/>
          </a:xfrm>
          <a:solidFill>
            <a:schemeClr val="bg1">
              <a:lumMod val="50000"/>
            </a:schemeClr>
          </a:solidFill>
        </p:spPr>
        <p:txBody>
          <a:bodyPr/>
          <a:lstStyle/>
          <a:p>
            <a:r>
              <a:rPr lang="en-US" dirty="0"/>
              <a:t>VISUALIZATION</a:t>
            </a:r>
            <a:endParaRPr lang="en-A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99CDCE-7CBA-453F-93D3-4B5D68AD7D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41648" y="0"/>
            <a:ext cx="7253881" cy="6858000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r>
              <a:rPr lang="en-US" b="1" dirty="0"/>
              <a:t>Churned customers are older (Mid-40s vs. Mid-30s).</a:t>
            </a:r>
          </a:p>
          <a:p>
            <a:r>
              <a:rPr lang="en-US" b="1" dirty="0"/>
              <a:t>Higher age = Higher risk</a:t>
            </a:r>
            <a:endParaRPr lang="en-AE" b="1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9BE7FCE-D93E-48A0-9094-8A90592F4BA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0" y="2057397"/>
            <a:ext cx="4041648" cy="4827497"/>
          </a:xfrm>
          <a:solidFill>
            <a:schemeClr val="bg1">
              <a:lumMod val="65000"/>
            </a:schemeClr>
          </a:solidFill>
        </p:spPr>
        <p:txBody>
          <a:bodyPr/>
          <a:lstStyle/>
          <a:p>
            <a:endParaRPr lang="en-US" dirty="0"/>
          </a:p>
          <a:p>
            <a:endParaRPr lang="en-AE" dirty="0"/>
          </a:p>
          <a:p>
            <a:pPr algn="ctr"/>
            <a:r>
              <a:rPr lang="en-US" sz="2000" b="1" dirty="0"/>
              <a:t>3.Age Distribution by Churn (Box Plot)</a:t>
            </a:r>
          </a:p>
          <a:p>
            <a:pPr algn="ctr"/>
            <a:endParaRPr lang="en-AE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A480C0B-95E1-4F27-B91A-331D52DBFB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5059" y="307988"/>
            <a:ext cx="5369828" cy="3883141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5130539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3F42E2-2A30-4277-B4BF-800F9051C7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4041648" cy="2057397"/>
          </a:xfrm>
          <a:solidFill>
            <a:schemeClr val="bg1">
              <a:lumMod val="50000"/>
            </a:schemeClr>
          </a:solidFill>
        </p:spPr>
        <p:txBody>
          <a:bodyPr/>
          <a:lstStyle/>
          <a:p>
            <a:r>
              <a:rPr lang="en-US" dirty="0"/>
              <a:t>VISUALIZATION</a:t>
            </a:r>
            <a:endParaRPr lang="en-A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308E14-70E5-4B6B-88C0-54F6A253AB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41648" y="0"/>
            <a:ext cx="7235952" cy="6858000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r>
              <a:rPr lang="en-US" b="1" dirty="0"/>
              <a:t>Age is the top driver of churn (positive).</a:t>
            </a:r>
          </a:p>
          <a:p>
            <a:r>
              <a:rPr lang="en-US" b="1" dirty="0"/>
              <a:t>Active members are least likely to churn (negative).</a:t>
            </a:r>
            <a:endParaRPr lang="en-AE" b="1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39ABB92-5776-4595-AD7D-38D2F92002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0" y="2057398"/>
            <a:ext cx="4041648" cy="4800602"/>
          </a:xfrm>
          <a:solidFill>
            <a:schemeClr val="bg1">
              <a:lumMod val="65000"/>
            </a:schemeClr>
          </a:solidFill>
        </p:spPr>
        <p:txBody>
          <a:bodyPr/>
          <a:lstStyle/>
          <a:p>
            <a:endParaRPr lang="en-US" dirty="0"/>
          </a:p>
          <a:p>
            <a:endParaRPr lang="en-AE" dirty="0"/>
          </a:p>
          <a:p>
            <a:pPr algn="ctr"/>
            <a:r>
              <a:rPr lang="en-AU" sz="2000" b="1" dirty="0"/>
              <a:t>4.Feature Correlation Matrix</a:t>
            </a:r>
          </a:p>
          <a:p>
            <a:pPr algn="ctr"/>
            <a:r>
              <a:rPr lang="en-AU" sz="2000" b="1" dirty="0"/>
              <a:t> (Heatmap)</a:t>
            </a:r>
          </a:p>
          <a:p>
            <a:pPr algn="ctr"/>
            <a:endParaRPr lang="en-AE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1543C35-3DB0-47F7-8F21-5BDB9D7F32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6447" y="398313"/>
            <a:ext cx="5154705" cy="3806134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60224371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EA0062-0B3E-4786-96EB-4AA2728A1B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4041648" cy="2057397"/>
          </a:xfrm>
          <a:solidFill>
            <a:schemeClr val="bg1">
              <a:lumMod val="50000"/>
            </a:schemeClr>
          </a:solidFill>
        </p:spPr>
        <p:txBody>
          <a:bodyPr/>
          <a:lstStyle/>
          <a:p>
            <a:r>
              <a:rPr lang="en-US" dirty="0"/>
              <a:t>VISUALIZATION</a:t>
            </a:r>
            <a:endParaRPr lang="en-A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AFBD1A-1CB4-4168-B298-06377D621C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41648" y="0"/>
            <a:ext cx="7244917" cy="6858000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r>
              <a:rPr lang="en-US" b="1" dirty="0"/>
              <a:t>Most customers fall in the 600–700 range.</a:t>
            </a:r>
          </a:p>
          <a:p>
            <a:r>
              <a:rPr lang="en-US" b="1" dirty="0"/>
              <a:t>Small spike of churned customers with low credit scores (below 400).</a:t>
            </a:r>
            <a:endParaRPr lang="en-AE" b="1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FEF0090-D563-4AAE-A33E-8512ABC806C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0" y="2057398"/>
            <a:ext cx="4041648" cy="4800602"/>
          </a:xfrm>
          <a:solidFill>
            <a:schemeClr val="bg1">
              <a:lumMod val="65000"/>
            </a:schemeClr>
          </a:solidFill>
        </p:spPr>
        <p:txBody>
          <a:bodyPr/>
          <a:lstStyle/>
          <a:p>
            <a:endParaRPr lang="en-US" dirty="0"/>
          </a:p>
          <a:p>
            <a:endParaRPr lang="en-AE" dirty="0"/>
          </a:p>
          <a:p>
            <a:pPr algn="ctr"/>
            <a:r>
              <a:rPr lang="en-US" sz="2000" b="1" dirty="0"/>
              <a:t>5. Credit Score Density (Histogram)</a:t>
            </a:r>
          </a:p>
          <a:p>
            <a:pPr algn="ctr"/>
            <a:endParaRPr lang="en-AE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C36BB69-6B9D-496D-AD7D-FFA7D78CF3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2234" y="349625"/>
            <a:ext cx="5599578" cy="38368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576678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A0D9A6-C244-4BB8-936A-8D84E49FE5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4041648" cy="2057397"/>
          </a:xfrm>
          <a:solidFill>
            <a:schemeClr val="bg1">
              <a:lumMod val="50000"/>
            </a:schemeClr>
          </a:solidFill>
        </p:spPr>
        <p:txBody>
          <a:bodyPr/>
          <a:lstStyle/>
          <a:p>
            <a:r>
              <a:rPr lang="en-US" dirty="0"/>
              <a:t>VISUALIZATION</a:t>
            </a:r>
            <a:endParaRPr lang="en-A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1E0E4A-928C-4891-92E7-40C7EFAE46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41648" y="0"/>
            <a:ext cx="7253881" cy="6858000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r>
              <a:rPr lang="en-US" b="1" dirty="0"/>
              <a:t>A large group of retained customers has a zero balance.</a:t>
            </a:r>
          </a:p>
          <a:p>
            <a:r>
              <a:rPr lang="en-US" b="1" dirty="0"/>
              <a:t>100k–150k balance = Risk of churn.</a:t>
            </a:r>
            <a:endParaRPr lang="en-AE" b="1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5B5DB29-9139-4384-945A-FA25C75E594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0" y="2057398"/>
            <a:ext cx="4041648" cy="4800602"/>
          </a:xfrm>
          <a:solidFill>
            <a:schemeClr val="bg1">
              <a:lumMod val="65000"/>
            </a:schemeClr>
          </a:solidFill>
        </p:spPr>
        <p:txBody>
          <a:bodyPr/>
          <a:lstStyle/>
          <a:p>
            <a:endParaRPr lang="en-US" dirty="0"/>
          </a:p>
          <a:p>
            <a:endParaRPr lang="en-AE" dirty="0"/>
          </a:p>
          <a:p>
            <a:pPr algn="ctr"/>
            <a:r>
              <a:rPr lang="en-US" sz="2000" b="1" dirty="0"/>
              <a:t>6. Balance Distribution by Churn </a:t>
            </a:r>
          </a:p>
          <a:p>
            <a:pPr algn="ctr"/>
            <a:r>
              <a:rPr lang="en-US" sz="2000" b="1" dirty="0"/>
              <a:t>(Overlapping Histogram)</a:t>
            </a:r>
          </a:p>
          <a:p>
            <a:endParaRPr lang="en-AE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E49A0FE-E76C-42CA-93BB-E591AA7F78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3713" y="323934"/>
            <a:ext cx="5293628" cy="3620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142757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215B63-BE73-4B8A-8644-70A67F1D89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4041648" cy="2057397"/>
          </a:xfrm>
          <a:solidFill>
            <a:schemeClr val="bg1">
              <a:lumMod val="50000"/>
            </a:schemeClr>
          </a:solidFill>
        </p:spPr>
        <p:txBody>
          <a:bodyPr/>
          <a:lstStyle/>
          <a:p>
            <a:r>
              <a:rPr lang="en-US" dirty="0"/>
              <a:t>VISUALIZATION</a:t>
            </a:r>
            <a:endParaRPr lang="en-A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9CEE74-9FA0-4E35-98C5-5987B5719B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41648" y="0"/>
            <a:ext cx="7226987" cy="6858000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endParaRPr lang="en-US" dirty="0"/>
          </a:p>
          <a:p>
            <a:r>
              <a:rPr lang="en-US" b="1" dirty="0"/>
              <a:t>3-4 Products: Near 100% churn rate (High risk).</a:t>
            </a:r>
          </a:p>
          <a:p>
            <a:r>
              <a:rPr lang="en-US" b="1" dirty="0"/>
              <a:t>2 Products: Highest customer loyalty</a:t>
            </a:r>
            <a:endParaRPr lang="en-AE" b="1" dirty="0"/>
          </a:p>
          <a:p>
            <a:pPr marL="0" indent="0">
              <a:buNone/>
            </a:pPr>
            <a:endParaRPr lang="en-AE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F04A629-BED3-483B-A1C1-73A7F8D923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0" y="2057398"/>
            <a:ext cx="4041648" cy="4800602"/>
          </a:xfrm>
          <a:solidFill>
            <a:schemeClr val="bg1">
              <a:lumMod val="65000"/>
            </a:schemeClr>
          </a:solidFill>
        </p:spPr>
        <p:txBody>
          <a:bodyPr/>
          <a:lstStyle/>
          <a:p>
            <a:endParaRPr lang="en-US" dirty="0"/>
          </a:p>
          <a:p>
            <a:endParaRPr lang="en-AE" dirty="0"/>
          </a:p>
          <a:p>
            <a:pPr algn="ctr"/>
            <a:r>
              <a:rPr lang="en-US" sz="2000" b="1" dirty="0"/>
              <a:t>7. Product Count Impact (Stacked Bar Chart)</a:t>
            </a:r>
          </a:p>
          <a:p>
            <a:pPr algn="ctr"/>
            <a:endParaRPr lang="en-AE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F9EFDD3-9E3A-4F38-B674-A00DE95020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6591" y="510850"/>
            <a:ext cx="5163856" cy="33798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228636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CA5A87-594E-499A-82E4-CEB8B897FC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4041648" cy="2057397"/>
          </a:xfrm>
          <a:solidFill>
            <a:schemeClr val="bg1">
              <a:lumMod val="50000"/>
            </a:schemeClr>
          </a:solidFill>
        </p:spPr>
        <p:txBody>
          <a:bodyPr/>
          <a:lstStyle/>
          <a:p>
            <a:r>
              <a:rPr lang="en-US" dirty="0"/>
              <a:t>VISUALIZATION</a:t>
            </a:r>
            <a:endParaRPr lang="en-A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AB2930-828C-47B7-B651-84ABD50760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41648" y="0"/>
            <a:ext cx="7262846" cy="6858000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r>
              <a:rPr lang="en-US" b="1" dirty="0"/>
              <a:t>Females show higher churn rates than males.</a:t>
            </a:r>
          </a:p>
          <a:p>
            <a:r>
              <a:rPr lang="en-AU" b="1" dirty="0"/>
              <a:t>Develop gender-specific retention strategies.</a:t>
            </a:r>
            <a:endParaRPr lang="en-AE" b="1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A80BCD-1259-409B-B460-6F1A3E1CC00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0" y="2057398"/>
            <a:ext cx="4041648" cy="4800602"/>
          </a:xfrm>
          <a:solidFill>
            <a:schemeClr val="bg1">
              <a:lumMod val="65000"/>
            </a:schemeClr>
          </a:solidFill>
        </p:spPr>
        <p:txBody>
          <a:bodyPr/>
          <a:lstStyle/>
          <a:p>
            <a:endParaRPr lang="en-US" dirty="0"/>
          </a:p>
          <a:p>
            <a:endParaRPr lang="en-AE" dirty="0"/>
          </a:p>
          <a:p>
            <a:pPr algn="ctr"/>
            <a:r>
              <a:rPr lang="en-US" sz="2000" b="1" dirty="0"/>
              <a:t>8. Gender-wise Churn Analysis </a:t>
            </a:r>
          </a:p>
          <a:p>
            <a:pPr algn="ctr"/>
            <a:r>
              <a:rPr lang="en-US" sz="2000" b="1" dirty="0"/>
              <a:t>(Count Plot)</a:t>
            </a:r>
          </a:p>
          <a:p>
            <a:pPr algn="ctr"/>
            <a:endParaRPr lang="en-AE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E5A85A6-27AA-48B7-9A3B-E45812C864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4729" y="332898"/>
            <a:ext cx="5351929" cy="34860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173312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0A2EC2-1579-4968-A853-86049A8298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4041648" cy="2057397"/>
          </a:xfrm>
          <a:solidFill>
            <a:schemeClr val="bg1">
              <a:lumMod val="50000"/>
            </a:schemeClr>
          </a:solidFill>
        </p:spPr>
        <p:txBody>
          <a:bodyPr/>
          <a:lstStyle/>
          <a:p>
            <a:r>
              <a:rPr lang="en-US" dirty="0"/>
              <a:t>VISUALIZATION</a:t>
            </a:r>
            <a:endParaRPr lang="en-A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7AEB10-0BD8-4F3B-80B2-C3A1384757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41648" y="0"/>
            <a:ext cx="6541685" cy="6858000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endParaRPr lang="en-AE" dirty="0"/>
          </a:p>
          <a:p>
            <a:r>
              <a:rPr lang="en-US" b="1" dirty="0"/>
              <a:t>Significant dip at Tenure 7 (~0.17).</a:t>
            </a:r>
          </a:p>
          <a:p>
            <a:r>
              <a:rPr lang="en-US" b="1" dirty="0"/>
              <a:t>Churn rate spikes sharply from year 7 to 9.</a:t>
            </a:r>
            <a:endParaRPr lang="en-AE" b="1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5150CE-9FD7-475D-8AF4-86C398085AF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0" y="2057398"/>
            <a:ext cx="4041648" cy="4800602"/>
          </a:xfrm>
          <a:solidFill>
            <a:schemeClr val="bg1">
              <a:lumMod val="65000"/>
            </a:schemeClr>
          </a:solidFill>
        </p:spPr>
        <p:txBody>
          <a:bodyPr/>
          <a:lstStyle/>
          <a:p>
            <a:endParaRPr lang="en-US" dirty="0"/>
          </a:p>
          <a:p>
            <a:endParaRPr lang="en-AE" dirty="0"/>
          </a:p>
          <a:p>
            <a:pPr algn="ctr"/>
            <a:r>
              <a:rPr lang="en-US" sz="2000" b="1" dirty="0"/>
              <a:t>9. Churn Rate by Tenure (Line Chart)</a:t>
            </a:r>
          </a:p>
          <a:p>
            <a:endParaRPr lang="en-AE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A70193C-A788-49DA-B43D-05D02512F3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3683" y="441816"/>
            <a:ext cx="5607921" cy="35205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41691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1FA251-287F-4F71-8DBC-B7C8E31BB8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4041648" cy="2057397"/>
          </a:xfrm>
          <a:solidFill>
            <a:schemeClr val="bg1">
              <a:lumMod val="50000"/>
            </a:schemeClr>
          </a:solidFill>
        </p:spPr>
        <p:txBody>
          <a:bodyPr/>
          <a:lstStyle/>
          <a:p>
            <a:r>
              <a:rPr lang="en-US" dirty="0"/>
              <a:t>VISUALIZATION</a:t>
            </a:r>
            <a:endParaRPr lang="en-A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979B45-AE20-4E57-8489-88F6DF10C7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41648" y="0"/>
            <a:ext cx="7244917" cy="6858000"/>
          </a:xfrm>
        </p:spPr>
        <p:txBody>
          <a:bodyPr/>
          <a:lstStyle/>
          <a:p>
            <a:endParaRPr lang="en-US" dirty="0"/>
          </a:p>
          <a:p>
            <a:endParaRPr lang="en-AE" dirty="0"/>
          </a:p>
          <a:p>
            <a:endParaRPr lang="en-AE" dirty="0"/>
          </a:p>
          <a:p>
            <a:endParaRPr lang="en-AE" dirty="0"/>
          </a:p>
          <a:p>
            <a:endParaRPr lang="en-AE" dirty="0"/>
          </a:p>
          <a:p>
            <a:endParaRPr lang="en-AE" dirty="0"/>
          </a:p>
          <a:p>
            <a:endParaRPr lang="en-AE" dirty="0"/>
          </a:p>
          <a:p>
            <a:endParaRPr lang="en-AE" dirty="0"/>
          </a:p>
          <a:p>
            <a:endParaRPr lang="en-AE" dirty="0"/>
          </a:p>
          <a:p>
            <a:r>
              <a:rPr lang="en-US" b="1" dirty="0"/>
              <a:t>Similar salary levels across all three countries.</a:t>
            </a:r>
          </a:p>
          <a:p>
            <a:r>
              <a:rPr lang="en-US" b="1" dirty="0"/>
              <a:t>Suggesting income is not the main driver of regional churn.</a:t>
            </a:r>
            <a:endParaRPr lang="en-AE" b="1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4407720-644A-4208-9196-99B49722B31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0" y="2057398"/>
            <a:ext cx="4041648" cy="4800602"/>
          </a:xfrm>
          <a:solidFill>
            <a:schemeClr val="bg1">
              <a:lumMod val="65000"/>
            </a:schemeClr>
          </a:solidFill>
        </p:spPr>
        <p:txBody>
          <a:bodyPr/>
          <a:lstStyle/>
          <a:p>
            <a:endParaRPr lang="en-US" dirty="0"/>
          </a:p>
          <a:p>
            <a:endParaRPr lang="en-AE" dirty="0"/>
          </a:p>
          <a:p>
            <a:pPr algn="ctr"/>
            <a:r>
              <a:rPr lang="en-US" sz="2000" b="1" dirty="0"/>
              <a:t>10. Salary Distribution by Geography </a:t>
            </a:r>
          </a:p>
          <a:p>
            <a:pPr algn="ctr"/>
            <a:r>
              <a:rPr lang="en-US" sz="2000" b="1" dirty="0"/>
              <a:t>(Violin Plot)</a:t>
            </a:r>
          </a:p>
          <a:p>
            <a:pPr algn="ctr"/>
            <a:endParaRPr lang="en-AE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1D83570-C3EB-4F6A-8164-94296AA359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51601" y="423199"/>
            <a:ext cx="5668164" cy="37991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853948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237DF-4C04-4529-BC9C-0A406ED91E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4041648" cy="2057397"/>
          </a:xfrm>
          <a:solidFill>
            <a:schemeClr val="bg1">
              <a:lumMod val="50000"/>
            </a:schemeClr>
          </a:solidFill>
        </p:spPr>
        <p:txBody>
          <a:bodyPr/>
          <a:lstStyle/>
          <a:p>
            <a:r>
              <a:rPr lang="en-US" dirty="0"/>
              <a:t>VISUALIZATION</a:t>
            </a:r>
            <a:endParaRPr lang="en-A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48B48E-1746-4615-8587-D3773901D8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41648" y="0"/>
            <a:ext cx="7200093" cy="6858000"/>
          </a:xfrm>
        </p:spPr>
        <p:txBody>
          <a:bodyPr/>
          <a:lstStyle/>
          <a:p>
            <a:endParaRPr lang="en-US" dirty="0"/>
          </a:p>
          <a:p>
            <a:endParaRPr lang="en-AE" dirty="0"/>
          </a:p>
          <a:p>
            <a:endParaRPr lang="en-AE" dirty="0"/>
          </a:p>
          <a:p>
            <a:endParaRPr lang="en-AE" dirty="0"/>
          </a:p>
          <a:p>
            <a:endParaRPr lang="en-AE" dirty="0"/>
          </a:p>
          <a:p>
            <a:endParaRPr lang="en-AE" dirty="0"/>
          </a:p>
          <a:p>
            <a:endParaRPr lang="en-AE" dirty="0"/>
          </a:p>
          <a:p>
            <a:endParaRPr lang="en-AE" dirty="0"/>
          </a:p>
          <a:p>
            <a:endParaRPr lang="en-AE" dirty="0"/>
          </a:p>
          <a:p>
            <a:r>
              <a:rPr lang="en-US" b="1" dirty="0"/>
              <a:t>Churn rates are identical with or without credit cards.</a:t>
            </a:r>
          </a:p>
          <a:p>
            <a:r>
              <a:rPr lang="en-US" b="1" dirty="0"/>
              <a:t>Card ownership does not impact loyalty.</a:t>
            </a:r>
            <a:endParaRPr lang="en-AE" b="1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10A93CF-46B1-40FE-B02E-CA75240B3A5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0" y="2057398"/>
            <a:ext cx="4041648" cy="4800602"/>
          </a:xfrm>
          <a:solidFill>
            <a:schemeClr val="bg1">
              <a:lumMod val="65000"/>
            </a:schemeClr>
          </a:solidFill>
        </p:spPr>
        <p:txBody>
          <a:bodyPr/>
          <a:lstStyle/>
          <a:p>
            <a:endParaRPr lang="en-US" dirty="0"/>
          </a:p>
          <a:p>
            <a:endParaRPr lang="en-AE" dirty="0"/>
          </a:p>
          <a:p>
            <a:pPr algn="ctr"/>
            <a:r>
              <a:rPr lang="en-US" sz="2000" b="1" dirty="0"/>
              <a:t>11. Churn Rate by Credit Card Ownership</a:t>
            </a:r>
          </a:p>
          <a:p>
            <a:pPr algn="ctr"/>
            <a:r>
              <a:rPr lang="en-US" sz="2000" b="1" dirty="0"/>
              <a:t>(Bar Plot)</a:t>
            </a:r>
          </a:p>
          <a:p>
            <a:pPr algn="ctr"/>
            <a:endParaRPr lang="en-AE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96F3266-22E4-4E75-9964-FA3C7CF667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0980" y="415150"/>
            <a:ext cx="5173278" cy="3583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410864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1CA4CD-05BB-4421-BDFC-7FF0619EC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4041648" cy="2057397"/>
          </a:xfrm>
          <a:solidFill>
            <a:schemeClr val="bg1">
              <a:lumMod val="50000"/>
            </a:schemeClr>
          </a:solidFill>
        </p:spPr>
        <p:txBody>
          <a:bodyPr/>
          <a:lstStyle/>
          <a:p>
            <a:r>
              <a:rPr lang="en-US" dirty="0"/>
              <a:t>VISUALIZATION</a:t>
            </a:r>
            <a:endParaRPr lang="en-A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2EEC86-ADAD-4D33-9053-6D32038298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41648" y="0"/>
            <a:ext cx="7244917" cy="6858000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pPr marL="0" indent="0">
              <a:buNone/>
            </a:pPr>
            <a:endParaRPr lang="en-AE" dirty="0"/>
          </a:p>
          <a:p>
            <a:r>
              <a:rPr lang="en-US" b="1" dirty="0"/>
              <a:t>Churn risk rises from age 35, peaks at age 50–55.</a:t>
            </a:r>
          </a:p>
          <a:p>
            <a:r>
              <a:rPr lang="en-US" b="1" dirty="0"/>
              <a:t>Minor risk for under 35s and seniors.</a:t>
            </a:r>
            <a:endParaRPr lang="en-AE" b="1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F16EE70-B947-44B1-90F8-F25959C09C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0" y="2057398"/>
            <a:ext cx="4041648" cy="4800602"/>
          </a:xfrm>
          <a:solidFill>
            <a:schemeClr val="bg1">
              <a:lumMod val="65000"/>
            </a:schemeClr>
          </a:solidFill>
        </p:spPr>
        <p:txBody>
          <a:bodyPr/>
          <a:lstStyle/>
          <a:p>
            <a:endParaRPr lang="en-US" dirty="0"/>
          </a:p>
          <a:p>
            <a:endParaRPr lang="en-AE" dirty="0"/>
          </a:p>
          <a:p>
            <a:pPr algn="ctr"/>
            <a:r>
              <a:rPr lang="en-US" sz="2000" b="1" dirty="0"/>
              <a:t>12. Churn Trend by Age</a:t>
            </a:r>
          </a:p>
          <a:p>
            <a:pPr algn="ctr"/>
            <a:r>
              <a:rPr lang="en-US" sz="2000" b="1" dirty="0"/>
              <a:t>(Line Plot)</a:t>
            </a:r>
          </a:p>
          <a:p>
            <a:pPr algn="ctr"/>
            <a:endParaRPr lang="en-AE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8C4CD96-4961-44D3-8D61-788214E8F8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9415" y="307349"/>
            <a:ext cx="5192773" cy="33861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32671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1AD3B9-F952-476B-8432-4F7174FA6E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4041648" cy="2057397"/>
          </a:xfrm>
          <a:solidFill>
            <a:schemeClr val="bg1">
              <a:lumMod val="50000"/>
            </a:schemeClr>
          </a:solidFill>
        </p:spPr>
        <p:txBody>
          <a:bodyPr/>
          <a:lstStyle/>
          <a:p>
            <a:r>
              <a:rPr lang="en-US" dirty="0"/>
              <a:t>VISUALIZATION</a:t>
            </a:r>
            <a:endParaRPr lang="en-A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14D5D4-10CB-4AC6-A4A2-531D2E45AF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41648" y="0"/>
            <a:ext cx="7244917" cy="6858000"/>
          </a:xfrm>
        </p:spPr>
        <p:txBody>
          <a:bodyPr/>
          <a:lstStyle/>
          <a:p>
            <a:endParaRPr lang="en-US" dirty="0"/>
          </a:p>
          <a:p>
            <a:endParaRPr lang="en-AE" dirty="0"/>
          </a:p>
          <a:p>
            <a:endParaRPr lang="en-AE" dirty="0"/>
          </a:p>
          <a:p>
            <a:endParaRPr lang="en-AE" dirty="0"/>
          </a:p>
          <a:p>
            <a:endParaRPr lang="en-AE" dirty="0"/>
          </a:p>
          <a:p>
            <a:endParaRPr lang="en-AE" dirty="0"/>
          </a:p>
          <a:p>
            <a:endParaRPr lang="en-AE" dirty="0"/>
          </a:p>
          <a:p>
            <a:endParaRPr lang="en-AE" dirty="0"/>
          </a:p>
          <a:p>
            <a:endParaRPr lang="en-US" b="1" dirty="0"/>
          </a:p>
          <a:p>
            <a:r>
              <a:rPr lang="en-US" b="1" dirty="0"/>
              <a:t>France occupies the largest portion of the customers.</a:t>
            </a:r>
          </a:p>
          <a:p>
            <a:r>
              <a:rPr lang="en-US" b="1" dirty="0"/>
              <a:t>Females in Germany have a higher churn rate.</a:t>
            </a:r>
            <a:endParaRPr lang="en-AE" b="1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DF9502B-E76E-41AD-94A7-95CC353C26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0" y="2057397"/>
            <a:ext cx="4041648" cy="4800603"/>
          </a:xfrm>
          <a:solidFill>
            <a:schemeClr val="bg1">
              <a:lumMod val="65000"/>
            </a:schemeClr>
          </a:solidFill>
        </p:spPr>
        <p:txBody>
          <a:bodyPr/>
          <a:lstStyle/>
          <a:p>
            <a:endParaRPr lang="en-US" dirty="0"/>
          </a:p>
          <a:p>
            <a:endParaRPr lang="en-AE" dirty="0"/>
          </a:p>
          <a:p>
            <a:pPr algn="ctr"/>
            <a:r>
              <a:rPr lang="en-US" sz="2000" b="1" dirty="0"/>
              <a:t>13.Hierarchical Churn Breakdown </a:t>
            </a:r>
          </a:p>
          <a:p>
            <a:pPr algn="ctr"/>
            <a:r>
              <a:rPr lang="en-US" sz="2000" b="1" dirty="0"/>
              <a:t>(Sunburst Chart)</a:t>
            </a:r>
          </a:p>
          <a:p>
            <a:pPr algn="ctr"/>
            <a:endParaRPr lang="en-AE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4CC90D6-051B-4147-BFF6-0670CA8135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7106" y="304896"/>
            <a:ext cx="4267200" cy="36216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654956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A3B112-0391-4917-984C-B0456EAAF7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1304494" cy="1691322"/>
          </a:xfrm>
          <a:solidFill>
            <a:schemeClr val="bg1">
              <a:lumMod val="50000"/>
            </a:schemeClr>
          </a:solidFill>
        </p:spPr>
        <p:txBody>
          <a:bodyPr/>
          <a:lstStyle/>
          <a:p>
            <a:r>
              <a:rPr lang="en-US" dirty="0"/>
              <a:t>RECOMMENDATIONS</a:t>
            </a:r>
            <a:endParaRPr lang="en-A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7B2236-7FE8-4D4C-AD31-780138C9B8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1" y="1691322"/>
            <a:ext cx="11304493" cy="5166678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sz="2000" b="1" dirty="0"/>
              <a:t>Regional:</a:t>
            </a:r>
            <a:r>
              <a:rPr lang="en-US" sz="2000" dirty="0"/>
              <a:t> Launch a competitive audit and loyalty program in Germany.</a:t>
            </a:r>
          </a:p>
          <a:p>
            <a:r>
              <a:rPr lang="en-US" sz="2000" b="1" dirty="0"/>
              <a:t>Retention:</a:t>
            </a:r>
            <a:r>
              <a:rPr lang="en-US" sz="2000" dirty="0"/>
              <a:t> Create "Wealth Management" perks for the 40–55 age group.</a:t>
            </a:r>
          </a:p>
          <a:p>
            <a:r>
              <a:rPr lang="en-US" sz="2000" b="1" dirty="0"/>
              <a:t>Product:</a:t>
            </a:r>
            <a:r>
              <a:rPr lang="en-US" sz="2000" dirty="0"/>
              <a:t> Focus on moving 1-product customers to 2-products.</a:t>
            </a:r>
          </a:p>
          <a:p>
            <a:r>
              <a:rPr lang="en-US" sz="2000" b="1" dirty="0"/>
              <a:t>Engagement: </a:t>
            </a:r>
            <a:r>
              <a:rPr lang="en-US" sz="2000" dirty="0"/>
              <a:t>Launch re-activation campaigns for inactive members.</a:t>
            </a:r>
            <a:endParaRPr lang="en-AE" sz="2000" dirty="0"/>
          </a:p>
        </p:txBody>
      </p:sp>
    </p:spTree>
    <p:extLst>
      <p:ext uri="{BB962C8B-B14F-4D97-AF65-F5344CB8AC3E}">
        <p14:creationId xmlns:p14="http://schemas.microsoft.com/office/powerpoint/2010/main" val="56348878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CD7856-FDFD-41E0-A725-61F65C9EDB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11286565" cy="1691322"/>
          </a:xfrm>
          <a:solidFill>
            <a:schemeClr val="bg1">
              <a:lumMod val="50000"/>
            </a:schemeClr>
          </a:solidFill>
        </p:spPr>
        <p:txBody>
          <a:bodyPr/>
          <a:lstStyle/>
          <a:p>
            <a:r>
              <a:rPr lang="en-US" dirty="0"/>
              <a:t>CONCLUSION</a:t>
            </a:r>
            <a:endParaRPr lang="en-A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1C20D7-4342-4106-BB26-8BC86B08B1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91322"/>
            <a:ext cx="11286564" cy="5166678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AE" dirty="0"/>
          </a:p>
          <a:p>
            <a:r>
              <a:rPr lang="en-US" sz="2000" b="1" dirty="0"/>
              <a:t>Summary:</a:t>
            </a:r>
            <a:r>
              <a:rPr lang="en-US" sz="2000" dirty="0"/>
              <a:t> By targeting the German market and the 40+ age demographic, the bank can reduce churn by an estimated 5–10%.</a:t>
            </a:r>
          </a:p>
          <a:p>
            <a:r>
              <a:rPr lang="en-US" sz="2000" b="1" dirty="0"/>
              <a:t>Next Step: </a:t>
            </a:r>
            <a:r>
              <a:rPr lang="en-US" sz="2000" dirty="0"/>
              <a:t>Implement </a:t>
            </a:r>
            <a:r>
              <a:rPr lang="en-US" sz="2000" i="1" dirty="0"/>
              <a:t>a Machine Learning Early-Warning System </a:t>
            </a:r>
            <a:r>
              <a:rPr lang="en-US" sz="2000" dirty="0"/>
              <a:t>to flag high-risk customers in real-time.</a:t>
            </a:r>
            <a:endParaRPr lang="en-AE" sz="2000" dirty="0"/>
          </a:p>
        </p:txBody>
      </p:sp>
    </p:spTree>
    <p:extLst>
      <p:ext uri="{BB962C8B-B14F-4D97-AF65-F5344CB8AC3E}">
        <p14:creationId xmlns:p14="http://schemas.microsoft.com/office/powerpoint/2010/main" val="173708600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2A84C8-A7EC-4BB8-9A42-210DE7A8543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61872" y="758952"/>
            <a:ext cx="9418320" cy="2522130"/>
          </a:xfrm>
        </p:spPr>
        <p:txBody>
          <a:bodyPr/>
          <a:lstStyle/>
          <a:p>
            <a:r>
              <a:rPr lang="en-US" dirty="0"/>
              <a:t>THANK YOU</a:t>
            </a:r>
            <a:endParaRPr lang="en-AE" dirty="0"/>
          </a:p>
        </p:txBody>
      </p:sp>
    </p:spTree>
    <p:extLst>
      <p:ext uri="{BB962C8B-B14F-4D97-AF65-F5344CB8AC3E}">
        <p14:creationId xmlns:p14="http://schemas.microsoft.com/office/powerpoint/2010/main" val="471506477"/>
      </p:ext>
    </p:extLst>
  </p:cSld>
  <p:clrMapOvr>
    <a:masterClrMapping/>
  </p:clrMapOvr>
</p:sld>
</file>

<file path=ppt/theme/theme1.xml><?xml version="1.0" encoding="utf-8"?>
<a:theme xmlns:a="http://schemas.openxmlformats.org/drawingml/2006/main" name="View">
  <a:themeElements>
    <a:clrScheme name="View">
      <a:dk1>
        <a:srgbClr val="000000"/>
      </a:dk1>
      <a:lt1>
        <a:srgbClr val="FFFFFF"/>
      </a:lt1>
      <a:dk2>
        <a:srgbClr val="46464A"/>
      </a:dk2>
      <a:lt2>
        <a:srgbClr val="D6D3CC"/>
      </a:lt2>
      <a:accent1>
        <a:srgbClr val="6F6F74"/>
      </a:accent1>
      <a:accent2>
        <a:srgbClr val="92A9B9"/>
      </a:accent2>
      <a:accent3>
        <a:srgbClr val="A7B789"/>
      </a:accent3>
      <a:accent4>
        <a:srgbClr val="B9A489"/>
      </a:accent4>
      <a:accent5>
        <a:srgbClr val="8D6374"/>
      </a:accent5>
      <a:accent6>
        <a:srgbClr val="9B7362"/>
      </a:accent6>
      <a:hlink>
        <a:srgbClr val="67AABF"/>
      </a:hlink>
      <a:folHlink>
        <a:srgbClr val="ABAFA5"/>
      </a:folHlink>
    </a:clrScheme>
    <a:fontScheme name="View">
      <a:maj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View">
      <a:fillStyleLst>
        <a:solidFill>
          <a:schemeClr val="phClr"/>
        </a:solidFill>
        <a:solidFill>
          <a:schemeClr val="phClr">
            <a:tint val="60000"/>
            <a:satMod val="120000"/>
          </a:schemeClr>
        </a:solidFill>
        <a:solidFill>
          <a:schemeClr val="phClr">
            <a:shade val="75000"/>
            <a:satMod val="16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3970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95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5240" dir="5400000" algn="tl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9525" prstMaterial="flat">
            <a:bevelT w="0" h="0" prst="coolSlant"/>
            <a:contourClr>
              <a:schemeClr val="phClr">
                <a:shade val="35000"/>
                <a:satMod val="130000"/>
              </a:schemeClr>
            </a:contourClr>
          </a:sp3d>
        </a:effectStyle>
        <a:effectStyle>
          <a:effectLst>
            <a:outerShdw blurRad="76200" dist="25400" dir="5400000" algn="tl" rotWithShape="0">
              <a:srgbClr val="000000">
                <a:alpha val="5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19050" prstMaterial="flat">
            <a:bevelT w="0" h="0" prst="coolSlant"/>
            <a:contourClr>
              <a:schemeClr val="phClr">
                <a:shade val="25000"/>
                <a:satMod val="14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4000"/>
                <a:shade val="98000"/>
                <a:satMod val="130000"/>
                <a:lumMod val="102000"/>
              </a:schemeClr>
            </a:gs>
            <a:gs pos="100000">
              <a:schemeClr val="phClr">
                <a:tint val="98000"/>
                <a:shade val="78000"/>
                <a:satMod val="140000"/>
              </a:schemeClr>
            </a:gs>
          </a:gsLst>
          <a:path path="circle">
            <a:fillToRect l="100000" t="10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iew" id="{BA0EB5A6-F2D4-4F82-977B-64ADEE4A2A69}" vid="{3969A8A2-35DB-4E3B-8885-16FD2056867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TM03457515[[fn=View]]</Template>
  <TotalTime>424</TotalTime>
  <Words>665</Words>
  <Application>Microsoft Office PowerPoint</Application>
  <PresentationFormat>Widescreen</PresentationFormat>
  <Paragraphs>273</Paragraphs>
  <Slides>24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8" baseType="lpstr">
      <vt:lpstr>Arial</vt:lpstr>
      <vt:lpstr>Century Schoolbook</vt:lpstr>
      <vt:lpstr>Wingdings 2</vt:lpstr>
      <vt:lpstr>View</vt:lpstr>
      <vt:lpstr>BANK-CUSTOMER-CHURN</vt:lpstr>
      <vt:lpstr>PowerPoint Presentation</vt:lpstr>
      <vt:lpstr>DATA LOADING</vt:lpstr>
      <vt:lpstr>DATA PREPROCESSING</vt:lpstr>
      <vt:lpstr>EXPLORATORY  ANALYSIS</vt:lpstr>
      <vt:lpstr>STATISTICAL ANALYSIS</vt:lpstr>
      <vt:lpstr>STATISTICAL ANALYSIS</vt:lpstr>
      <vt:lpstr>STATISTICAL ANALYSIS</vt:lpstr>
      <vt:lpstr>VISUALIZATION</vt:lpstr>
      <vt:lpstr>VISUALIZATION</vt:lpstr>
      <vt:lpstr>VISUALIZATION</vt:lpstr>
      <vt:lpstr>VISUALIZATION</vt:lpstr>
      <vt:lpstr>VISUALIZATION</vt:lpstr>
      <vt:lpstr>VISUALIZATION</vt:lpstr>
      <vt:lpstr>VISUALIZATION</vt:lpstr>
      <vt:lpstr>VISUALIZATION</vt:lpstr>
      <vt:lpstr>VISUALIZATION</vt:lpstr>
      <vt:lpstr>VISUALIZATION</vt:lpstr>
      <vt:lpstr>VISUALIZATION</vt:lpstr>
      <vt:lpstr>VISUALIZATION</vt:lpstr>
      <vt:lpstr>VISUALIZATION</vt:lpstr>
      <vt:lpstr>RECOMMENDATIONS</vt:lpstr>
      <vt:lpstr>CONCLUSION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BANK-CUSTOMER-CHURN</dc:title>
  <dc:creator>Rukkiya Riyas</dc:creator>
  <cp:lastModifiedBy>Rukkiya Riyas</cp:lastModifiedBy>
  <cp:revision>19</cp:revision>
  <dcterms:created xsi:type="dcterms:W3CDTF">2026-03-31T14:10:10Z</dcterms:created>
  <dcterms:modified xsi:type="dcterms:W3CDTF">2026-04-01T19:05:13Z</dcterms:modified>
</cp:coreProperties>
</file>