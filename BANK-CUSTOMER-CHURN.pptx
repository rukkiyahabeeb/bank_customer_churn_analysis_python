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2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smtClean="0"/>
              <a:pPr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60449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903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85411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8034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9507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3057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075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265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9151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6D93-FCAC-47E0-A2EE-787E62CA814C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573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879A6-0FD0-4734-A311-86BFCA472E6E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3979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2BE451C3-0FF4-47C4-B829-773ADF60F88C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65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38" r:id="rId10"/>
    <p:sldLayoutId id="214748373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0739B-7223-4DE7-A43C-BD9B2F5553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4375" y="758952"/>
            <a:ext cx="10856259" cy="3248272"/>
          </a:xfrm>
        </p:spPr>
        <p:txBody>
          <a:bodyPr>
            <a:normAutofit/>
          </a:bodyPr>
          <a:lstStyle/>
          <a:p>
            <a:r>
              <a:rPr lang="en-US" sz="6000" dirty="0"/>
              <a:t>BANK-CUSTOMER-CHURN</a:t>
            </a:r>
            <a:endParaRPr lang="en-AE" sz="6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B089B5-5A3B-4B7D-A053-13F44A9DB0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3943" y="4007224"/>
            <a:ext cx="9418320" cy="1691640"/>
          </a:xfrm>
        </p:spPr>
        <p:txBody>
          <a:bodyPr>
            <a:normAutofit/>
          </a:bodyPr>
          <a:lstStyle/>
          <a:p>
            <a:r>
              <a:rPr lang="en-US" sz="2800" dirty="0"/>
              <a:t>PYTHON FOR BANKING</a:t>
            </a:r>
            <a:endParaRPr lang="en-AE" sz="2800" dirty="0"/>
          </a:p>
        </p:txBody>
      </p:sp>
    </p:spTree>
    <p:extLst>
      <p:ext uri="{BB962C8B-B14F-4D97-AF65-F5344CB8AC3E}">
        <p14:creationId xmlns:p14="http://schemas.microsoft.com/office/powerpoint/2010/main" val="325909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4D6E6-E9D2-40E2-ABBF-C0CC817C7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977154"/>
            <a:ext cx="8595360" cy="5202984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/>
              <a:t>Dataset</a:t>
            </a:r>
            <a:r>
              <a:rPr lang="en-US" sz="2800" dirty="0"/>
              <a:t>:</a:t>
            </a:r>
          </a:p>
          <a:p>
            <a:r>
              <a:rPr lang="en-US" dirty="0"/>
              <a:t> </a:t>
            </a:r>
            <a:r>
              <a:rPr lang="en-US" sz="2000" dirty="0"/>
              <a:t>From </a:t>
            </a:r>
            <a:r>
              <a:rPr lang="en-US" sz="2000" u="sng" dirty="0">
                <a:solidFill>
                  <a:srgbClr val="0070C0"/>
                </a:solidFill>
              </a:rPr>
              <a:t>mavenanalytics.io</a:t>
            </a:r>
          </a:p>
          <a:p>
            <a:r>
              <a:rPr lang="en-US" sz="2000" dirty="0"/>
              <a:t>10,000 customers across France, Germany, and Spain.</a:t>
            </a:r>
            <a:endParaRPr lang="en-AE" sz="2000" dirty="0"/>
          </a:p>
          <a:p>
            <a:r>
              <a:rPr lang="en-US" sz="2000" dirty="0"/>
              <a:t>Credit Score, Geography, Age, Tenure, Balance, and Product Count.</a:t>
            </a:r>
          </a:p>
          <a:p>
            <a:pPr marL="0" indent="0">
              <a:buNone/>
            </a:pPr>
            <a:endParaRPr lang="en-US" sz="2000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sz="2800" b="1" dirty="0"/>
              <a:t>The Objective</a:t>
            </a:r>
            <a:r>
              <a:rPr lang="en-US" sz="2800" dirty="0"/>
              <a:t>:</a:t>
            </a:r>
          </a:p>
          <a:p>
            <a:r>
              <a:rPr lang="en-US" sz="2000" dirty="0"/>
              <a:t> Identify high-risk segments and provide mitigation strategies.</a:t>
            </a:r>
          </a:p>
          <a:p>
            <a:r>
              <a:rPr lang="en-US" sz="2000" dirty="0"/>
              <a:t> Data-driven insights to reduce attrition. </a:t>
            </a: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2474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ABEFE-41EF-4A72-9D65-1470F3640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760259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sz="3600" dirty="0"/>
              <a:t>DATA LOADING</a:t>
            </a:r>
            <a:endParaRPr lang="en-AE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EA42983-8FFF-4DAD-AA3A-9D0D4C5D91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13312" y="869577"/>
            <a:ext cx="6193959" cy="2178684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2FD10-8775-45B9-97BC-3080B7F68B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760259" cy="4800603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sz="2400" dirty="0"/>
              <a:t>Initial Overview of Data set: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Columns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Head()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Tail()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Shape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Info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Describe()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Dtypes</a:t>
            </a: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A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BB10FB-CA22-4B30-A526-7FA985FC1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312" y="3048260"/>
            <a:ext cx="6193959" cy="3244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049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DD2F0-AB35-4272-8698-48E40903D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4041648" cy="2012574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DATA PREPROCESSING</a:t>
            </a:r>
            <a:endParaRPr lang="en-AE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23206EF-5EAF-47A2-AFE3-DAB27C22E5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3737" y="1541930"/>
            <a:ext cx="6433204" cy="1618840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74519C-8197-495C-AF41-D931A7F019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12575"/>
            <a:ext cx="4041648" cy="4845425"/>
          </a:xfrm>
          <a:solidFill>
            <a:schemeClr val="bg1">
              <a:lumMod val="65000"/>
            </a:schemeClr>
          </a:solidFill>
        </p:spPr>
        <p:txBody>
          <a:bodyPr>
            <a:normAutofit/>
          </a:bodyPr>
          <a:lstStyle/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NULL data handling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Duplicate data handling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Column Renaming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Derived columns</a:t>
            </a:r>
            <a:endParaRPr lang="en-AE" sz="16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EFD9730-14F8-460B-A8BF-3510C2203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737" y="3429000"/>
            <a:ext cx="6433204" cy="215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4504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8E069-8587-4233-A6DC-E5BF40AE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EXPLORATORY  ANALYSIS</a:t>
            </a:r>
            <a:endParaRPr lang="en-AE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FE152E3-C5C9-47C0-8ABF-4D984D7488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2377" y="355417"/>
            <a:ext cx="6634069" cy="953613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3ACF2D-3B06-466C-AE95-EFC0823121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041648" cy="4800603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E" sz="2400" dirty="0"/>
              <a:t>Group By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E" sz="2400" dirty="0"/>
              <a:t>Pivot Table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05D3C1-CC8A-48F4-A843-CA3E9DF36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9854" y="1337416"/>
            <a:ext cx="3804805" cy="15133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A217758-7E01-4578-B6B9-951A04209A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2377" y="3459512"/>
            <a:ext cx="6634069" cy="14343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7BA45D2-2813-495F-B00E-3C0538042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9853" y="4893865"/>
            <a:ext cx="4041649" cy="1840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1168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C8E86-F6F0-485A-919F-7522E8A7C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1295529" cy="1592711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STATISTICAL ANALYSIS</a:t>
            </a:r>
            <a:endParaRPr lang="en-A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AC61E-5BB2-440A-BBED-6883F139B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610640"/>
            <a:ext cx="11295529" cy="4405127"/>
          </a:xfrm>
          <a:noFill/>
        </p:spPr>
        <p:txBody>
          <a:bodyPr/>
          <a:lstStyle/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3200" b="1" dirty="0"/>
              <a:t>Numerical Column Summary:</a:t>
            </a:r>
          </a:p>
          <a:p>
            <a:r>
              <a:rPr lang="en-US" sz="2400" b="1" dirty="0"/>
              <a:t>Average Age: </a:t>
            </a:r>
            <a:r>
              <a:rPr lang="en-US" sz="2400" dirty="0"/>
              <a:t>Typically 38–40 years.</a:t>
            </a:r>
          </a:p>
          <a:p>
            <a:r>
              <a:rPr lang="en-US" sz="2400" b="1" dirty="0"/>
              <a:t>Churn Rate: </a:t>
            </a:r>
            <a:r>
              <a:rPr lang="en-US" sz="2400" dirty="0"/>
              <a:t>Approximately 20% of customers have left.</a:t>
            </a:r>
          </a:p>
          <a:p>
            <a:r>
              <a:rPr lang="en-US" sz="2400" b="1" dirty="0"/>
              <a:t>Account Balance: </a:t>
            </a:r>
            <a:r>
              <a:rPr lang="en-US" sz="2400" dirty="0"/>
              <a:t>High frequency, suggesting inactive or secondary accounts. 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48715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813CF-7184-44FE-9117-0E3055BD5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49318" cy="1595718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STATISTICAL ANALYSIS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A44204-0AFA-4A66-8189-5CAA04C364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644"/>
            <a:ext cx="11286564" cy="4839493"/>
          </a:xfrm>
        </p:spPr>
        <p:txBody>
          <a:bodyPr/>
          <a:lstStyle/>
          <a:p>
            <a:endParaRPr lang="en-US" dirty="0"/>
          </a:p>
          <a:p>
            <a:pPr marL="0" indent="0">
              <a:buNone/>
            </a:pPr>
            <a:endParaRPr lang="en-AE" sz="3200" b="1" dirty="0"/>
          </a:p>
          <a:p>
            <a:pPr marL="0" indent="0">
              <a:buNone/>
            </a:pPr>
            <a:r>
              <a:rPr lang="en-AE" sz="3200" b="1" dirty="0"/>
              <a:t>Categorical Column Summary:</a:t>
            </a:r>
          </a:p>
          <a:p>
            <a:r>
              <a:rPr lang="en-US" sz="2400" b="1" dirty="0"/>
              <a:t>Geography:</a:t>
            </a:r>
            <a:r>
              <a:rPr lang="en-US" sz="2400" dirty="0"/>
              <a:t> Data dominated by France.</a:t>
            </a:r>
          </a:p>
          <a:p>
            <a:r>
              <a:rPr lang="en-US" sz="2400" b="1" dirty="0"/>
              <a:t>Gender:</a:t>
            </a:r>
            <a:r>
              <a:rPr lang="en-US" sz="2400" dirty="0"/>
              <a:t> Mostly balanced, with higher female churn in specific clusters.</a:t>
            </a:r>
            <a:endParaRPr lang="en-AE" sz="2400" dirty="0"/>
          </a:p>
        </p:txBody>
      </p:sp>
    </p:spTree>
    <p:extLst>
      <p:ext uri="{BB962C8B-B14F-4D97-AF65-F5344CB8AC3E}">
        <p14:creationId xmlns:p14="http://schemas.microsoft.com/office/powerpoint/2010/main" val="3359846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09935-B8D5-44E0-BFB8-07A15504E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1313459" cy="1691322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STATISTICAL ANALYSIS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A4AA7-8A6C-42D5-A00E-826EE24EA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691322"/>
            <a:ext cx="11313459" cy="4488815"/>
          </a:xfrm>
        </p:spPr>
        <p:txBody>
          <a:bodyPr/>
          <a:lstStyle/>
          <a:p>
            <a:pPr marL="0" indent="0">
              <a:buNone/>
            </a:pPr>
            <a:endParaRPr lang="en-AU" b="1" dirty="0"/>
          </a:p>
          <a:p>
            <a:pPr marL="0" indent="0">
              <a:buNone/>
            </a:pPr>
            <a:endParaRPr lang="en-AU" sz="3200" b="1" dirty="0"/>
          </a:p>
          <a:p>
            <a:pPr marL="0" indent="0">
              <a:buNone/>
            </a:pPr>
            <a:r>
              <a:rPr lang="en-AU" sz="3200" b="1" dirty="0"/>
              <a:t>Grouped Statistics by Churn:</a:t>
            </a:r>
          </a:p>
          <a:p>
            <a:r>
              <a:rPr lang="en-US" sz="2400" b="1" dirty="0"/>
              <a:t>High-Value Loss:</a:t>
            </a:r>
            <a:r>
              <a:rPr lang="en-US" sz="2400" dirty="0"/>
              <a:t> Churned customers hold higher average balances,      indicating a loss of premium clients.</a:t>
            </a:r>
          </a:p>
          <a:p>
            <a:r>
              <a:rPr lang="en-US" sz="2400" b="1" dirty="0"/>
              <a:t>Age Factor:</a:t>
            </a:r>
            <a:r>
              <a:rPr lang="en-US" sz="2400" dirty="0"/>
              <a:t> Customers 40+ are more likely to leave. </a:t>
            </a:r>
          </a:p>
          <a:p>
            <a:endParaRPr lang="en-AU" b="1" dirty="0"/>
          </a:p>
          <a:p>
            <a:pPr marL="0" indent="0">
              <a:buNone/>
            </a:pP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3382056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80CD7-786E-471F-9D8A-3747954DA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C2F3D-90F2-4994-823A-20B263211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44917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endParaRPr lang="en-AU" dirty="0"/>
          </a:p>
          <a:p>
            <a:endParaRPr lang="en-AU" b="1" dirty="0"/>
          </a:p>
          <a:p>
            <a:r>
              <a:rPr lang="en-AU" b="1" dirty="0"/>
              <a:t>Clear class imbalance.</a:t>
            </a:r>
          </a:p>
          <a:p>
            <a:r>
              <a:rPr lang="en-US" b="1" dirty="0"/>
              <a:t>20% of customers exited (1 in 5).</a:t>
            </a:r>
            <a:endParaRPr lang="en-AE" b="1" dirty="0"/>
          </a:p>
          <a:p>
            <a:pPr marL="0" indent="0">
              <a:buNone/>
            </a:pPr>
            <a:endParaRPr lang="en-AE" sz="1800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BF9722-F26C-4F61-A07E-7C01C1DB9C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041648" cy="4800603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pPr algn="ctr"/>
            <a:r>
              <a:rPr lang="en-US" sz="2000" b="1" dirty="0"/>
              <a:t>1</a:t>
            </a:r>
            <a:r>
              <a:rPr lang="en-US" sz="2000" dirty="0"/>
              <a:t>.</a:t>
            </a:r>
            <a:r>
              <a:rPr lang="en-US" sz="2000" b="1" dirty="0"/>
              <a:t> Overall Churn Proportion      (Pie Chart)</a:t>
            </a:r>
          </a:p>
          <a:p>
            <a:endParaRPr lang="en-A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BD6945-C4A6-4555-A7DF-F92EA1054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033" y="189175"/>
            <a:ext cx="4286920" cy="347738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35039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8A214-C7C7-4F02-AD01-050358079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1E00E-BD1D-403A-82C7-C07033150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53881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France has the most customers.</a:t>
            </a:r>
          </a:p>
          <a:p>
            <a:r>
              <a:rPr lang="en-US" b="1" dirty="0"/>
              <a:t>Germany has the highest churn proportion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8D5ED0-E73C-40B8-A98B-2412414F55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041648" cy="4800603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AE" sz="2000" b="1" dirty="0"/>
              <a:t>2.</a:t>
            </a:r>
            <a:r>
              <a:rPr lang="en-US" sz="2000" b="1" dirty="0"/>
              <a:t> Churn Frequency by         Country</a:t>
            </a:r>
          </a:p>
          <a:p>
            <a:r>
              <a:rPr lang="en-US" sz="2000" b="1" dirty="0"/>
              <a:t>                 (Bar Plot)</a:t>
            </a:r>
          </a:p>
          <a:p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6E5EE4-3BC9-4A06-9248-20F3166C9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150" y="318050"/>
            <a:ext cx="5573104" cy="376985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22083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7A56D-6D03-41EE-8D08-4869A392F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99CDCE-7CBA-453F-93D3-4B5D68AD7D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53881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Churned customers are older (Mid-40s vs. Mid-30s).</a:t>
            </a:r>
          </a:p>
          <a:p>
            <a:r>
              <a:rPr lang="en-US" b="1" dirty="0"/>
              <a:t>Higher age = Higher risk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BE7FCE-D93E-48A0-9094-8A90592F4B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041648" cy="4827497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3.Age Distribution by Churn (Box Plot)</a:t>
            </a:r>
          </a:p>
          <a:p>
            <a:pPr algn="ctr"/>
            <a:endParaRPr lang="en-A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480C0B-95E1-4F27-B91A-331D52DBF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059" y="307988"/>
            <a:ext cx="5369828" cy="388314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30539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F42E2-2A30-4277-B4BF-800F9051C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08E14-70E5-4B6B-88C0-54F6A253A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35952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Age is the top driver of churn (positive).</a:t>
            </a:r>
          </a:p>
          <a:p>
            <a:r>
              <a:rPr lang="en-US" b="1" dirty="0"/>
              <a:t>Active members are least likely to churn (negative).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9ABB92-5776-4595-AD7D-38D2F92002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AU" sz="2000" b="1" dirty="0"/>
              <a:t>4.Feature Correlation Matrix</a:t>
            </a:r>
          </a:p>
          <a:p>
            <a:pPr algn="ctr"/>
            <a:r>
              <a:rPr lang="en-AU" sz="2000" b="1" dirty="0"/>
              <a:t> (Heatmap)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543C35-3DB0-47F7-8F21-5BDB9D7F32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6447" y="398313"/>
            <a:ext cx="5154705" cy="380613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02243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A0062-0B3E-4786-96EB-4AA2728A1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FBD1A-1CB4-4168-B298-06377D621C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44917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Most customers fall in the 600–700 range.</a:t>
            </a:r>
          </a:p>
          <a:p>
            <a:r>
              <a:rPr lang="en-US" b="1" dirty="0"/>
              <a:t>Small spike of churned customers with low credit scores (below 400).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F0090-D563-4AAE-A33E-8512ABC806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5. Credit Score Density (Histogram)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36BB69-6B9D-496D-AD7D-FFA7D78CF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234" y="349625"/>
            <a:ext cx="5599578" cy="3836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7667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0D9A6-C244-4BB8-936A-8D84E49FE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E0E4A-928C-4891-92E7-40C7EFAE4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53881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A large group of retained customers has a zero balance.</a:t>
            </a:r>
          </a:p>
          <a:p>
            <a:r>
              <a:rPr lang="en-US" b="1" dirty="0"/>
              <a:t>100k–150k balance = Risk of churn.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B5DB29-9139-4384-945A-FA25C75E59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6. Balance Distribution by Churn </a:t>
            </a:r>
          </a:p>
          <a:p>
            <a:pPr algn="ctr"/>
            <a:r>
              <a:rPr lang="en-US" sz="2000" b="1" dirty="0"/>
              <a:t>(Overlapping Histogram)</a:t>
            </a:r>
          </a:p>
          <a:p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49A0FE-E76C-42CA-93BB-E591AA7F7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3713" y="323934"/>
            <a:ext cx="5293628" cy="3620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4275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15B63-BE73-4B8A-8644-70A67F1D8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CEE74-9FA0-4E35-98C5-5987B5719B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26987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endParaRPr lang="en-US" dirty="0"/>
          </a:p>
          <a:p>
            <a:r>
              <a:rPr lang="en-US" b="1" dirty="0"/>
              <a:t>3-4 Products: Near 100% churn rate (High risk).</a:t>
            </a:r>
          </a:p>
          <a:p>
            <a:r>
              <a:rPr lang="en-US" b="1" dirty="0"/>
              <a:t>2 Products: Highest customer loyalty</a:t>
            </a:r>
            <a:endParaRPr lang="en-AE" b="1" dirty="0"/>
          </a:p>
          <a:p>
            <a:pPr marL="0" indent="0">
              <a:buNone/>
            </a:pPr>
            <a:endParaRPr lang="en-A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04A629-BED3-483B-A1C1-73A7F8D923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7. Product Count Impact (Stacked Bar Chart)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9EFDD3-9E3A-4F38-B674-A00DE9502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6591" y="510850"/>
            <a:ext cx="5163856" cy="3379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863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A5A87-594E-499A-82E4-CEB8B897F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B2930-828C-47B7-B651-84ABD5076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62846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Females show higher churn rates than males.</a:t>
            </a:r>
          </a:p>
          <a:p>
            <a:r>
              <a:rPr lang="en-AU" b="1" dirty="0"/>
              <a:t>Develop gender-specific retention strategies.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A80BCD-1259-409B-B460-6F1A3E1CC0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8. Gender-wise Churn Analysis </a:t>
            </a:r>
          </a:p>
          <a:p>
            <a:pPr algn="ctr"/>
            <a:r>
              <a:rPr lang="en-US" sz="2000" b="1" dirty="0"/>
              <a:t>(Count Plot)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5A85A6-27AA-48B7-9A3B-E45812C86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4729" y="332898"/>
            <a:ext cx="5351929" cy="3486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733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A2EC2-1579-4968-A853-86049A829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AEB10-0BD8-4F3B-80B2-C3A138475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6541685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endParaRPr lang="en-AE" dirty="0"/>
          </a:p>
          <a:p>
            <a:r>
              <a:rPr lang="en-US" b="1" dirty="0"/>
              <a:t>Significant dip at Tenure 7 (~0.17).</a:t>
            </a:r>
          </a:p>
          <a:p>
            <a:r>
              <a:rPr lang="en-US" b="1" dirty="0"/>
              <a:t>Churn rate spikes sharply from year 7 to 9.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150CE-9FD7-475D-8AF4-86C398085A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9. Churn Rate by Tenure (Line Chart)</a:t>
            </a:r>
          </a:p>
          <a:p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70193C-A788-49DA-B43D-05D02512F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683" y="441816"/>
            <a:ext cx="5607921" cy="3520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169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FA251-287F-4F71-8DBC-B7C8E31BB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979B45-AE20-4E57-8489-88F6DF10C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44917" cy="6858000"/>
          </a:xfrm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r>
              <a:rPr lang="en-US" b="1" dirty="0"/>
              <a:t>Similar salary levels across all three countries.</a:t>
            </a:r>
          </a:p>
          <a:p>
            <a:r>
              <a:rPr lang="en-US" b="1" dirty="0"/>
              <a:t>Suggesting income is not the main driver of regional churn.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407720-644A-4208-9196-99B49722B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10. Salary Distribution by Geography </a:t>
            </a:r>
          </a:p>
          <a:p>
            <a:pPr algn="ctr"/>
            <a:r>
              <a:rPr lang="en-US" sz="2000" b="1" dirty="0"/>
              <a:t>(Violin Plot)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D83570-C3EB-4F6A-8164-94296AA35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1601" y="423199"/>
            <a:ext cx="5668164" cy="3799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5394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237DF-4C04-4529-BC9C-0A406ED91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8B48E-1746-4615-8587-D3773901D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00093" cy="6858000"/>
          </a:xfrm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r>
              <a:rPr lang="en-US" b="1" dirty="0"/>
              <a:t>Churn rates are identical with or without credit cards.</a:t>
            </a:r>
          </a:p>
          <a:p>
            <a:r>
              <a:rPr lang="en-US" b="1" dirty="0"/>
              <a:t>Card ownership does not impact loyalty.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0A93CF-46B1-40FE-B02E-CA75240B3A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11. Churn Rate by Credit Card Ownership</a:t>
            </a:r>
          </a:p>
          <a:p>
            <a:pPr algn="ctr"/>
            <a:r>
              <a:rPr lang="en-US" sz="2000" b="1" dirty="0"/>
              <a:t>(Bar Plot)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6F3266-22E4-4E75-9964-FA3C7CF667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0980" y="415150"/>
            <a:ext cx="5173278" cy="3583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086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A4CD-05BB-4421-BDFC-7FF0619EC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EEC86-ADAD-4D33-9053-6D3203829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44917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Churn risk rises from age 35, peaks at age 50–55.</a:t>
            </a:r>
          </a:p>
          <a:p>
            <a:r>
              <a:rPr lang="en-US" b="1" dirty="0"/>
              <a:t>Minor risk for under 35s and seniors.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16EE70-B947-44B1-90F8-F25959C09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12. Churn Trend by Age</a:t>
            </a:r>
          </a:p>
          <a:p>
            <a:pPr algn="ctr"/>
            <a:r>
              <a:rPr lang="en-US" sz="2000" b="1" dirty="0"/>
              <a:t>(Line Plot)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C4CD96-4961-44D3-8D61-788214E8F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415" y="307349"/>
            <a:ext cx="5192773" cy="338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267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AD3B9-F952-476B-8432-4F7174FA6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4D5D4-10CB-4AC6-A4A2-531D2E45A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44917" cy="6858000"/>
          </a:xfrm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US" b="1" dirty="0"/>
          </a:p>
          <a:p>
            <a:r>
              <a:rPr lang="en-US" b="1" dirty="0"/>
              <a:t>France occupies the largest portion of the customers.</a:t>
            </a:r>
          </a:p>
          <a:p>
            <a:r>
              <a:rPr lang="en-US" b="1" dirty="0"/>
              <a:t>Females in Germany have a higher churn rate.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F9502B-E76E-41AD-94A7-95CC353C26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041648" cy="4800603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13.Hierarchical Churn Breakdown </a:t>
            </a:r>
          </a:p>
          <a:p>
            <a:pPr algn="ctr"/>
            <a:r>
              <a:rPr lang="en-US" sz="2000" b="1" dirty="0"/>
              <a:t>(Sunburst Chart)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CC90D6-051B-4147-BFF6-0670CA813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106" y="304896"/>
            <a:ext cx="4267200" cy="362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5495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3B112-0391-4917-984C-B0456EAAF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04494" cy="1691322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RECOMMENDATIONS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B2236-7FE8-4D4C-AD31-780138C9B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691322"/>
            <a:ext cx="11304493" cy="51666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sz="2000" b="1" dirty="0"/>
              <a:t>Regional:</a:t>
            </a:r>
            <a:r>
              <a:rPr lang="en-US" sz="2000" dirty="0"/>
              <a:t> Launch a competitive audit and loyalty program in Germany.</a:t>
            </a:r>
          </a:p>
          <a:p>
            <a:r>
              <a:rPr lang="en-US" sz="2000" b="1" dirty="0"/>
              <a:t>Retention:</a:t>
            </a:r>
            <a:r>
              <a:rPr lang="en-US" sz="2000" dirty="0"/>
              <a:t> Create "Wealth Management" perks for the 40–55 age group.</a:t>
            </a:r>
          </a:p>
          <a:p>
            <a:r>
              <a:rPr lang="en-US" sz="2000" b="1" dirty="0"/>
              <a:t>Product:</a:t>
            </a:r>
            <a:r>
              <a:rPr lang="en-US" sz="2000" dirty="0"/>
              <a:t> Focus on moving 1-product customers to 2-products.</a:t>
            </a:r>
          </a:p>
          <a:p>
            <a:r>
              <a:rPr lang="en-US" sz="2000" b="1" dirty="0"/>
              <a:t>Engagement: </a:t>
            </a:r>
            <a:r>
              <a:rPr lang="en-US" sz="2000" dirty="0"/>
              <a:t>Launch re-activation campaigns for inactive members.</a:t>
            </a:r>
            <a:endParaRPr lang="en-AE" sz="2000" dirty="0"/>
          </a:p>
        </p:txBody>
      </p:sp>
    </p:spTree>
    <p:extLst>
      <p:ext uri="{BB962C8B-B14F-4D97-AF65-F5344CB8AC3E}">
        <p14:creationId xmlns:p14="http://schemas.microsoft.com/office/powerpoint/2010/main" val="5634887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D7856-FDFD-41E0-A725-61F65C9E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1286565" cy="1691322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CONCLUSION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C20D7-4342-4106-BB26-8BC86B08B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1322"/>
            <a:ext cx="11286564" cy="51666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r>
              <a:rPr lang="en-US" sz="2000" b="1" dirty="0"/>
              <a:t>Summary:</a:t>
            </a:r>
            <a:r>
              <a:rPr lang="en-US" sz="2000" dirty="0"/>
              <a:t> By targeting the German market and the 40+ age demographic, the bank can reduce churn by an estimated 5–10%.</a:t>
            </a:r>
          </a:p>
          <a:p>
            <a:r>
              <a:rPr lang="en-US" sz="2000" b="1" dirty="0"/>
              <a:t>Next Step: </a:t>
            </a:r>
            <a:r>
              <a:rPr lang="en-US" sz="2000" dirty="0"/>
              <a:t>Implement </a:t>
            </a:r>
            <a:r>
              <a:rPr lang="en-US" sz="2000" i="1" dirty="0"/>
              <a:t>a Machine Learning Early-Warning System </a:t>
            </a:r>
            <a:r>
              <a:rPr lang="en-US" sz="2000" dirty="0"/>
              <a:t>to flag high-risk customers in real-time.</a:t>
            </a:r>
            <a:endParaRPr lang="en-AE" sz="2000" dirty="0"/>
          </a:p>
        </p:txBody>
      </p:sp>
    </p:spTree>
    <p:extLst>
      <p:ext uri="{BB962C8B-B14F-4D97-AF65-F5344CB8AC3E}">
        <p14:creationId xmlns:p14="http://schemas.microsoft.com/office/powerpoint/2010/main" val="17370860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A84C8-A7EC-4BB8-9A42-210DE7A854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2522130"/>
          </a:xfrm>
        </p:spPr>
        <p:txBody>
          <a:bodyPr/>
          <a:lstStyle/>
          <a:p>
            <a:r>
              <a:rPr lang="en-US" dirty="0"/>
              <a:t>THANK YOU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471506477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422</TotalTime>
  <Words>643</Words>
  <Application>Microsoft Office PowerPoint</Application>
  <PresentationFormat>Widescreen</PresentationFormat>
  <Paragraphs>270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Century Schoolbook</vt:lpstr>
      <vt:lpstr>Wingdings 2</vt:lpstr>
      <vt:lpstr>View</vt:lpstr>
      <vt:lpstr>BANK-CUSTOMER-CHURN</vt:lpstr>
      <vt:lpstr>PowerPoint Presentation</vt:lpstr>
      <vt:lpstr>DATA LOADING</vt:lpstr>
      <vt:lpstr>DATA PREPROCESSING</vt:lpstr>
      <vt:lpstr>EXPLORATORY  ANALYSIS</vt:lpstr>
      <vt:lpstr>STATISTICAL ANALYSIS</vt:lpstr>
      <vt:lpstr>STATISTICAL ANALYSIS</vt:lpstr>
      <vt:lpstr>STATISTICAL ANALYSIS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RECOMMENDATIONS</vt:lpstr>
      <vt:lpstr>CONCLUSION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BANK-CUSTOMER-CHURN</dc:title>
  <dc:creator>Rukkiya Riyas</dc:creator>
  <cp:lastModifiedBy>Rukkiya Riyas</cp:lastModifiedBy>
  <cp:revision>18</cp:revision>
  <dcterms:created xsi:type="dcterms:W3CDTF">2026-03-31T14:10:10Z</dcterms:created>
  <dcterms:modified xsi:type="dcterms:W3CDTF">2026-04-01T19:03:13Z</dcterms:modified>
</cp:coreProperties>
</file>